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8" r:id="rId3"/>
    <p:sldId id="260" r:id="rId4"/>
    <p:sldId id="262" r:id="rId5"/>
    <p:sldId id="263" r:id="rId6"/>
    <p:sldId id="265" r:id="rId7"/>
    <p:sldId id="266" r:id="rId8"/>
    <p:sldId id="267" r:id="rId9"/>
    <p:sldId id="268" r:id="rId10"/>
    <p:sldId id="269" r:id="rId11"/>
    <p:sldId id="270" r:id="rId12"/>
    <p:sldId id="271" r:id="rId13"/>
    <p:sldId id="277" r:id="rId14"/>
    <p:sldId id="279" r:id="rId15"/>
    <p:sldId id="275" r:id="rId16"/>
    <p:sldId id="281" r:id="rId17"/>
    <p:sldId id="283" r:id="rId18"/>
    <p:sldId id="284" r:id="rId19"/>
    <p:sldId id="259" r:id="rId20"/>
  </p:sldIdLst>
  <p:sldSz cx="12192000" cy="6858000"/>
  <p:notesSz cx="6858000" cy="9144000"/>
  <p:embeddedFontLst>
    <p:embeddedFont>
      <p:font typeface="Arial Rounded MT Bold" panose="020F0704030504030204" pitchFamily="34" charset="0"/>
      <p:regular r:id="rId22"/>
    </p:embeddedFont>
    <p:embeddedFont>
      <p:font typeface="Libre Baskerville" panose="02000000000000000000" pitchFamily="2" charset="0"/>
      <p:regular r:id="rId23"/>
      <p:bold r:id="rId24"/>
      <p: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723CD0-2BFA-4E5A-8198-CE5F21DB8C98}" v="26" dt="2025-11-01T10:42:52.672"/>
    <p1510:client id="{B6644E9C-6C96-49E6-8102-049BB9828872}" v="87" dt="2025-10-31T11:42:24.4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1"/>
            <a:ext cx="12190815" cy="6263149"/>
          </a:xfrm>
          <a:prstGeom prst="rect">
            <a:avLst/>
          </a:prstGeom>
          <a:noFill/>
          <a:ln>
            <a:noFill/>
          </a:ln>
        </p:spPr>
      </p:pic>
      <p:sp>
        <p:nvSpPr>
          <p:cNvPr id="99" name="Google Shape;99;p1"/>
          <p:cNvSpPr txBox="1"/>
          <p:nvPr/>
        </p:nvSpPr>
        <p:spPr>
          <a:xfrm>
            <a:off x="1567544" y="2872411"/>
            <a:ext cx="8957388" cy="310850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4000" b="0" i="0" u="none" strike="noStrike" cap="none" dirty="0">
                <a:solidFill>
                  <a:schemeClr val="dk1"/>
                </a:solidFill>
                <a:latin typeface="Calibri"/>
                <a:ea typeface="Calibri"/>
                <a:cs typeface="Calibri"/>
                <a:sym typeface="Calibri"/>
              </a:rPr>
            </a:br>
            <a:r>
              <a:rPr lang="en-IN" sz="4400" b="0" i="0" u="none" strike="noStrike" cap="none" dirty="0">
                <a:solidFill>
                  <a:schemeClr val="dk1"/>
                </a:solidFill>
                <a:latin typeface="Arial Rounded MT Bold" panose="020F0704030504030204" pitchFamily="34" charset="0"/>
                <a:ea typeface="Calibri"/>
                <a:cs typeface="Calibri"/>
                <a:sym typeface="Calibri"/>
              </a:rPr>
              <a:t>Bank Customer Segementation using PowerBI</a:t>
            </a:r>
            <a:endParaRPr lang="en-IN" sz="4400" dirty="0">
              <a:solidFill>
                <a:schemeClr val="dk1"/>
              </a:solidFill>
              <a:latin typeface="Arial Rounded MT Bold" panose="020F0704030504030204" pitchFamily="34" charset="0"/>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IN" sz="4400" b="0" i="0" u="none" strike="noStrike" cap="none" dirty="0">
                <a:solidFill>
                  <a:schemeClr val="dk1"/>
                </a:solidFill>
                <a:latin typeface="Arial Rounded MT Bold" panose="020F0704030504030204" pitchFamily="34" charset="0"/>
                <a:ea typeface="Calibri"/>
                <a:cs typeface="Calibri"/>
                <a:sym typeface="Calibri"/>
              </a:rPr>
              <a:t>				</a:t>
            </a:r>
            <a:r>
              <a:rPr lang="en-IN" sz="4400" dirty="0">
                <a:solidFill>
                  <a:schemeClr val="dk1"/>
                </a:solidFill>
                <a:latin typeface="Arial Rounded MT Bold" panose="020F0704030504030204" pitchFamily="34" charset="0"/>
                <a:ea typeface="Calibri"/>
                <a:cs typeface="Calibri"/>
                <a:sym typeface="Calibri"/>
              </a:rPr>
              <a:t>    </a:t>
            </a:r>
            <a:r>
              <a:rPr lang="en-IN" sz="2400" b="0" i="0" u="none" strike="noStrike" cap="none" dirty="0">
                <a:solidFill>
                  <a:schemeClr val="dk1"/>
                </a:solidFill>
                <a:latin typeface="Arial Rounded MT Bold" panose="020F0704030504030204" pitchFamily="34" charset="0"/>
                <a:ea typeface="Calibri"/>
                <a:cs typeface="Calibri"/>
                <a:sym typeface="Calibri"/>
              </a:rPr>
              <a:t>Presented by:</a:t>
            </a:r>
          </a:p>
          <a:p>
            <a:pPr marL="0" marR="0" lvl="0" indent="0" algn="ctr" rtl="0">
              <a:lnSpc>
                <a:spcPct val="100000"/>
              </a:lnSpc>
              <a:spcBef>
                <a:spcPts val="0"/>
              </a:spcBef>
              <a:spcAft>
                <a:spcPts val="0"/>
              </a:spcAft>
              <a:buClr>
                <a:srgbClr val="000000"/>
              </a:buClr>
              <a:buSzPts val="1800"/>
              <a:buFont typeface="Arial"/>
              <a:buNone/>
            </a:pPr>
            <a:r>
              <a:rPr lang="en-IN" sz="2400" dirty="0">
                <a:solidFill>
                  <a:schemeClr val="dk1"/>
                </a:solidFill>
                <a:latin typeface="Arial Rounded MT Bold" panose="020F0704030504030204" pitchFamily="34" charset="0"/>
                <a:ea typeface="Calibri"/>
                <a:cs typeface="Calibri"/>
                <a:sym typeface="Calibri"/>
              </a:rPr>
              <a:t>                                                                </a:t>
            </a:r>
            <a:r>
              <a:rPr lang="en-IN" sz="2000" dirty="0">
                <a:solidFill>
                  <a:schemeClr val="dk1"/>
                </a:solidFill>
                <a:latin typeface="Arial Rounded MT Bold" panose="020F0704030504030204" pitchFamily="34" charset="0"/>
                <a:ea typeface="Calibri"/>
                <a:cs typeface="Calibri"/>
                <a:sym typeface="Calibri"/>
              </a:rPr>
              <a:t>Pujari Sampath kumar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223934"/>
            <a:ext cx="10515600" cy="7464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sz="4000" b="1" dirty="0">
                <a:solidFill>
                  <a:srgbClr val="FF0000"/>
                </a:solidFill>
                <a:latin typeface="Arial Rounded MT Bold" panose="020F0704030504030204" pitchFamily="34" charset="0"/>
              </a:rPr>
              <a:t>Agenda</a:t>
            </a:r>
            <a:endParaRPr sz="4000" b="1" dirty="0">
              <a:solidFill>
                <a:srgbClr val="FF0000"/>
              </a:solidFill>
              <a:latin typeface="Arial Rounded MT Bold" panose="020F0704030504030204" pitchFamily="34" charset="0"/>
            </a:endParaRPr>
          </a:p>
        </p:txBody>
      </p:sp>
      <p:sp>
        <p:nvSpPr>
          <p:cNvPr id="111" name="Google Shape;111;p4"/>
          <p:cNvSpPr txBox="1">
            <a:spLocks noGrp="1"/>
          </p:cNvSpPr>
          <p:nvPr>
            <p:ph type="body" idx="1"/>
          </p:nvPr>
        </p:nvSpPr>
        <p:spPr>
          <a:xfrm>
            <a:off x="684880" y="979714"/>
            <a:ext cx="10515600" cy="5281127"/>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b="1" dirty="0">
                <a:latin typeface="Times New Roman" panose="02020603050405020304" pitchFamily="18" charset="0"/>
                <a:cs typeface="Times New Roman" panose="02020603050405020304" pitchFamily="18" charset="0"/>
              </a:rPr>
              <a:t>Objectives </a:t>
            </a:r>
          </a:p>
          <a:p>
            <a:pPr marL="457200" lvl="0" indent="-431800" algn="l" rtl="0">
              <a:lnSpc>
                <a:spcPct val="90000"/>
              </a:lnSpc>
              <a:spcBef>
                <a:spcPts val="1000"/>
              </a:spcBef>
              <a:spcAft>
                <a:spcPts val="0"/>
              </a:spcAft>
              <a:buSzPts val="2400"/>
              <a:buChar char="•"/>
            </a:pPr>
            <a:r>
              <a:rPr lang="en-IN" b="1" dirty="0">
                <a:latin typeface="Times New Roman" panose="02020603050405020304" pitchFamily="18" charset="0"/>
                <a:cs typeface="Times New Roman" panose="02020603050405020304" pitchFamily="18" charset="0"/>
              </a:rPr>
              <a:t>Dataset Description</a:t>
            </a:r>
          </a:p>
          <a:p>
            <a:pPr marL="457200" lvl="0" indent="-431800" algn="l" rtl="0">
              <a:lnSpc>
                <a:spcPct val="90000"/>
              </a:lnSpc>
              <a:spcBef>
                <a:spcPts val="1000"/>
              </a:spcBef>
              <a:spcAft>
                <a:spcPts val="0"/>
              </a:spcAft>
              <a:buSzPts val="2400"/>
              <a:buChar char="•"/>
            </a:pPr>
            <a:r>
              <a:rPr lang="en-IN" b="1" dirty="0">
                <a:latin typeface="Times New Roman" panose="02020603050405020304" pitchFamily="18" charset="0"/>
                <a:cs typeface="Times New Roman" panose="02020603050405020304" pitchFamily="18" charset="0"/>
              </a:rPr>
              <a:t>Data Preparation and Data Cleaning</a:t>
            </a:r>
          </a:p>
          <a:p>
            <a:pPr marL="457200" lvl="0" indent="-431800" algn="l" rtl="0">
              <a:lnSpc>
                <a:spcPct val="90000"/>
              </a:lnSpc>
              <a:spcBef>
                <a:spcPts val="1000"/>
              </a:spcBef>
              <a:spcAft>
                <a:spcPts val="0"/>
              </a:spcAft>
              <a:buSzPts val="2400"/>
              <a:buChar char="•"/>
            </a:pPr>
            <a:r>
              <a:rPr lang="en-IN" b="1" dirty="0">
                <a:latin typeface="Times New Roman" panose="02020603050405020304" pitchFamily="18" charset="0"/>
                <a:cs typeface="Times New Roman" panose="02020603050405020304" pitchFamily="18" charset="0"/>
              </a:rPr>
              <a:t>Dashboards</a:t>
            </a:r>
          </a:p>
          <a:p>
            <a:pPr marL="457200" lvl="0" indent="-431800" algn="l" rtl="0">
              <a:lnSpc>
                <a:spcPct val="90000"/>
              </a:lnSpc>
              <a:spcBef>
                <a:spcPts val="1000"/>
              </a:spcBef>
              <a:spcAft>
                <a:spcPts val="0"/>
              </a:spcAft>
              <a:buSzPts val="2400"/>
              <a:buChar char="•"/>
            </a:pPr>
            <a:r>
              <a:rPr lang="en-IN" b="1" dirty="0">
                <a:latin typeface="Times New Roman" panose="02020603050405020304" pitchFamily="18" charset="0"/>
                <a:cs typeface="Times New Roman" panose="02020603050405020304" pitchFamily="18" charset="0"/>
              </a:rPr>
              <a:t>Key Insights </a:t>
            </a:r>
          </a:p>
          <a:p>
            <a:pPr marL="25400" lvl="0" indent="0" algn="l" rtl="0">
              <a:lnSpc>
                <a:spcPct val="90000"/>
              </a:lnSpc>
              <a:spcBef>
                <a:spcPts val="1000"/>
              </a:spcBef>
              <a:spcAft>
                <a:spcPts val="0"/>
              </a:spcAft>
              <a:buSzPts val="2400"/>
              <a:buNone/>
            </a:pPr>
            <a:endParaRPr lang="en-IN" sz="2400" b="1"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endParaRPr lang="en-IN" sz="2400" b="1"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endParaRPr sz="2400" dirty="0">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02A03-C528-76F9-61AA-40006C1DDC22}"/>
              </a:ext>
            </a:extLst>
          </p:cNvPr>
          <p:cNvSpPr>
            <a:spLocks noGrp="1"/>
          </p:cNvSpPr>
          <p:nvPr>
            <p:ph type="title"/>
          </p:nvPr>
        </p:nvSpPr>
        <p:spPr>
          <a:xfrm>
            <a:off x="884903" y="79990"/>
            <a:ext cx="10392697" cy="804912"/>
          </a:xfrm>
        </p:spPr>
        <p:txBody>
          <a:bodyPr>
            <a:normAutofit/>
          </a:bodyPr>
          <a:lstStyle/>
          <a:p>
            <a:pPr algn="ctr"/>
            <a:r>
              <a:rPr lang="en-US" sz="4000" dirty="0">
                <a:solidFill>
                  <a:srgbClr val="FF0000"/>
                </a:solidFill>
                <a:latin typeface="Arial Rounded MT Bold" panose="020F0704030504030204" pitchFamily="34" charset="0"/>
              </a:rPr>
              <a:t>Objectives</a:t>
            </a:r>
            <a:endParaRPr lang="en-IN" sz="4000" dirty="0">
              <a:solidFill>
                <a:srgbClr val="FF0000"/>
              </a:solidFill>
              <a:latin typeface="Arial Rounded MT Bold" panose="020F0704030504030204" pitchFamily="34" charset="0"/>
            </a:endParaRPr>
          </a:p>
        </p:txBody>
      </p:sp>
      <p:sp>
        <p:nvSpPr>
          <p:cNvPr id="3" name="Text Placeholder 2">
            <a:extLst>
              <a:ext uri="{FF2B5EF4-FFF2-40B4-BE49-F238E27FC236}">
                <a16:creationId xmlns:a16="http://schemas.microsoft.com/office/drawing/2014/main" id="{15154237-763D-D644-82AB-B3C4329CA117}"/>
              </a:ext>
            </a:extLst>
          </p:cNvPr>
          <p:cNvSpPr>
            <a:spLocks noGrp="1"/>
          </p:cNvSpPr>
          <p:nvPr>
            <p:ph type="body" idx="1"/>
          </p:nvPr>
        </p:nvSpPr>
        <p:spPr>
          <a:xfrm>
            <a:off x="884903" y="1042219"/>
            <a:ext cx="10323871" cy="4975123"/>
          </a:xfrm>
        </p:spPr>
        <p:txBody>
          <a:bodyPr>
            <a:normAutofit/>
          </a:bodyPr>
          <a:lstStyle/>
          <a:p>
            <a:pPr algn="just">
              <a:lnSpc>
                <a:spcPct val="100000"/>
              </a:lnSpc>
              <a:buFont typeface="Wingdings" panose="05000000000000000000" pitchFamily="2" charset="2"/>
              <a:buChar char="Ø"/>
            </a:pPr>
            <a:r>
              <a:rPr lang="en-US" sz="2000" dirty="0">
                <a:latin typeface="Times New Roman" panose="02020603050405020304" pitchFamily="18" charset="0"/>
                <a:ea typeface="Cambria Math" panose="02040503050406030204" pitchFamily="18" charset="0"/>
                <a:cs typeface="Times New Roman" panose="02020603050405020304" pitchFamily="18" charset="0"/>
              </a:rPr>
              <a:t>To analyze </a:t>
            </a:r>
            <a:r>
              <a:rPr lang="en-US" sz="2000" b="1" dirty="0">
                <a:latin typeface="Times New Roman" panose="02020603050405020304" pitchFamily="18" charset="0"/>
                <a:ea typeface="Cambria Math" panose="02040503050406030204" pitchFamily="18" charset="0"/>
                <a:cs typeface="Times New Roman" panose="02020603050405020304" pitchFamily="18" charset="0"/>
              </a:rPr>
              <a:t>customer demographics </a:t>
            </a:r>
            <a:r>
              <a:rPr lang="en-US" sz="2000" dirty="0">
                <a:latin typeface="Times New Roman" panose="02020603050405020304" pitchFamily="18" charset="0"/>
                <a:ea typeface="Cambria Math" panose="02040503050406030204" pitchFamily="18" charset="0"/>
                <a:cs typeface="Times New Roman" panose="02020603050405020304" pitchFamily="18" charset="0"/>
              </a:rPr>
              <a:t>such as age, gender, and location to discover key customer groups.</a:t>
            </a:r>
          </a:p>
          <a:p>
            <a:pPr algn="just">
              <a:lnSpc>
                <a:spcPct val="100000"/>
              </a:lnSpc>
              <a:buFont typeface="Wingdings" panose="05000000000000000000" pitchFamily="2" charset="2"/>
              <a:buChar char="Ø"/>
            </a:pPr>
            <a:r>
              <a:rPr lang="en-US" sz="2000" dirty="0">
                <a:latin typeface="Times New Roman" panose="02020603050405020304" pitchFamily="18" charset="0"/>
                <a:ea typeface="Cambria Math" panose="02040503050406030204" pitchFamily="18" charset="0"/>
                <a:cs typeface="Times New Roman" panose="02020603050405020304" pitchFamily="18" charset="0"/>
              </a:rPr>
              <a:t>To segment customers based on transaction behavior and demographics for better understanding.</a:t>
            </a:r>
          </a:p>
          <a:p>
            <a:pPr algn="just">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evaluate </a:t>
            </a:r>
            <a:r>
              <a:rPr lang="en-US" sz="2000" b="1" dirty="0">
                <a:latin typeface="Times New Roman" panose="02020603050405020304" pitchFamily="18" charset="0"/>
                <a:cs typeface="Times New Roman" panose="02020603050405020304" pitchFamily="18" charset="0"/>
              </a:rPr>
              <a:t>transaction behavior</a:t>
            </a:r>
            <a:r>
              <a:rPr lang="en-US" sz="2000" dirty="0">
                <a:latin typeface="Times New Roman" panose="02020603050405020304" pitchFamily="18" charset="0"/>
                <a:cs typeface="Times New Roman" panose="02020603050405020304" pitchFamily="18" charset="0"/>
              </a:rPr>
              <a:t> — volume, frequency, and amount over time.</a:t>
            </a:r>
          </a:p>
          <a:p>
            <a:pPr algn="just">
              <a:lnSpc>
                <a:spcPct val="100000"/>
              </a:lnSpc>
              <a:buFont typeface="Wingdings" panose="05000000000000000000" pitchFamily="2" charset="2"/>
              <a:buChar char="Ø"/>
            </a:pPr>
            <a:r>
              <a:rPr lang="en-US" sz="2000" dirty="0">
                <a:latin typeface="Times New Roman" panose="02020603050405020304" pitchFamily="18" charset="0"/>
                <a:ea typeface="Cambria Math" panose="02040503050406030204" pitchFamily="18" charset="0"/>
                <a:cs typeface="Times New Roman" panose="02020603050405020304" pitchFamily="18" charset="0"/>
              </a:rPr>
              <a:t>To identify high-value, loyal, and at-risk customers using RFM (Recency, Frequency, Monetary) analysis.</a:t>
            </a:r>
          </a:p>
          <a:p>
            <a:pPr algn="just">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compare </a:t>
            </a:r>
            <a:r>
              <a:rPr lang="en-US" sz="2000" b="1" dirty="0">
                <a:latin typeface="Times New Roman" panose="02020603050405020304" pitchFamily="18" charset="0"/>
                <a:cs typeface="Times New Roman" panose="02020603050405020304" pitchFamily="18" charset="0"/>
              </a:rPr>
              <a:t>performance across customer segments</a:t>
            </a:r>
            <a:r>
              <a:rPr lang="en-US" sz="2000" dirty="0">
                <a:latin typeface="Times New Roman" panose="02020603050405020304" pitchFamily="18" charset="0"/>
                <a:cs typeface="Times New Roman" panose="02020603050405020304" pitchFamily="18" charset="0"/>
              </a:rPr>
              <a:t> based on revenue and activity.</a:t>
            </a:r>
            <a:endParaRPr lang="en-US" sz="200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identify </a:t>
            </a:r>
            <a:r>
              <a:rPr lang="en-US" sz="2000" b="1" dirty="0">
                <a:latin typeface="Times New Roman" panose="02020603050405020304" pitchFamily="18" charset="0"/>
                <a:cs typeface="Times New Roman" panose="02020603050405020304" pitchFamily="18" charset="0"/>
              </a:rPr>
              <a:t>high-value customers</a:t>
            </a:r>
            <a:r>
              <a:rPr lang="en-US" sz="2000" dirty="0">
                <a:latin typeface="Times New Roman" panose="02020603050405020304" pitchFamily="18" charset="0"/>
                <a:cs typeface="Times New Roman" panose="02020603050405020304" pitchFamily="18" charset="0"/>
              </a:rPr>
              <a:t> contributing most to profitability.</a:t>
            </a:r>
          </a:p>
          <a:p>
            <a:pPr>
              <a:lnSpc>
                <a:spcPct val="100000"/>
              </a:lnSpc>
              <a:buFont typeface="Wingdings" panose="05000000000000000000" pitchFamily="2" charset="2"/>
              <a:buChar char="Ø"/>
            </a:pPr>
            <a:r>
              <a:rPr lang="en-US" sz="2000" dirty="0">
                <a:latin typeface="Times New Roman" panose="02020603050405020304" pitchFamily="18" charset="0"/>
                <a:ea typeface="Cambria Math" panose="02040503050406030204" pitchFamily="18" charset="0"/>
                <a:cs typeface="Times New Roman" panose="02020603050405020304" pitchFamily="18" charset="0"/>
              </a:rPr>
              <a:t>To make data-driven decisions through clean, visual, and dynamic dashboards.</a:t>
            </a:r>
          </a:p>
          <a:p>
            <a:pPr>
              <a:lnSpc>
                <a:spcPct val="100000"/>
              </a:lnSpc>
              <a:buFont typeface="Wingdings" panose="05000000000000000000" pitchFamily="2" charset="2"/>
              <a:buChar char="Ø"/>
            </a:pPr>
            <a:r>
              <a:rPr lang="en-US" sz="2000" dirty="0">
                <a:latin typeface="Times New Roman" panose="02020603050405020304" pitchFamily="18" charset="0"/>
                <a:ea typeface="Cambria Math" panose="02040503050406030204" pitchFamily="18" charset="0"/>
                <a:cs typeface="Times New Roman" panose="02020603050405020304" pitchFamily="18" charset="0"/>
              </a:rPr>
              <a:t>To give insights that help to improve customer retention and loyalty strategies.</a:t>
            </a:r>
          </a:p>
        </p:txBody>
      </p:sp>
    </p:spTree>
    <p:extLst>
      <p:ext uri="{BB962C8B-B14F-4D97-AF65-F5344CB8AC3E}">
        <p14:creationId xmlns:p14="http://schemas.microsoft.com/office/powerpoint/2010/main" val="2907438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EF231-732D-1804-F068-4AB66FD87804}"/>
              </a:ext>
            </a:extLst>
          </p:cNvPr>
          <p:cNvSpPr>
            <a:spLocks noGrp="1"/>
          </p:cNvSpPr>
          <p:nvPr>
            <p:ph type="title"/>
          </p:nvPr>
        </p:nvSpPr>
        <p:spPr>
          <a:xfrm>
            <a:off x="838200" y="138984"/>
            <a:ext cx="10515600" cy="755752"/>
          </a:xfrm>
        </p:spPr>
        <p:txBody>
          <a:bodyPr>
            <a:normAutofit/>
          </a:bodyPr>
          <a:lstStyle/>
          <a:p>
            <a:pPr algn="ctr"/>
            <a:r>
              <a:rPr lang="en-IN" sz="4000" dirty="0">
                <a:solidFill>
                  <a:srgbClr val="FF0000"/>
                </a:solidFill>
                <a:latin typeface="Arial Rounded MT Bold" panose="020F0704030504030204" pitchFamily="34" charset="0"/>
              </a:rPr>
              <a:t>Dataset Description</a:t>
            </a:r>
          </a:p>
        </p:txBody>
      </p:sp>
      <p:sp>
        <p:nvSpPr>
          <p:cNvPr id="3" name="Text Placeholder 2">
            <a:extLst>
              <a:ext uri="{FF2B5EF4-FFF2-40B4-BE49-F238E27FC236}">
                <a16:creationId xmlns:a16="http://schemas.microsoft.com/office/drawing/2014/main" id="{AC4B14D8-5FDD-60BE-BCC1-4C6F589F39AC}"/>
              </a:ext>
            </a:extLst>
          </p:cNvPr>
          <p:cNvSpPr>
            <a:spLocks noGrp="1"/>
          </p:cNvSpPr>
          <p:nvPr>
            <p:ph type="body" idx="1"/>
          </p:nvPr>
        </p:nvSpPr>
        <p:spPr>
          <a:xfrm>
            <a:off x="1004454" y="1039091"/>
            <a:ext cx="10515600" cy="4155245"/>
          </a:xfrm>
        </p:spPr>
        <p:txBody>
          <a:bodyPr>
            <a:normAutofit/>
          </a:bodyPr>
          <a:lstStyle/>
          <a:p>
            <a:pPr marL="114300" indent="0">
              <a:buNone/>
            </a:pPr>
            <a:r>
              <a:rPr lang="en-US" sz="2000" b="1" dirty="0">
                <a:latin typeface="Times New Roman" panose="02020603050405020304" pitchFamily="18" charset="0"/>
                <a:cs typeface="Times New Roman" panose="02020603050405020304" pitchFamily="18" charset="0"/>
              </a:rPr>
              <a:t> Rows – 10 lakhs</a:t>
            </a:r>
          </a:p>
          <a:p>
            <a:pPr marL="114300" indent="0">
              <a:buNone/>
            </a:pPr>
            <a:r>
              <a:rPr lang="en-US" sz="2000" b="1" dirty="0">
                <a:latin typeface="Times New Roman" panose="02020603050405020304" pitchFamily="18" charset="0"/>
                <a:cs typeface="Times New Roman" panose="02020603050405020304" pitchFamily="18" charset="0"/>
              </a:rPr>
              <a:t>TransactionID </a:t>
            </a:r>
            <a:r>
              <a:rPr lang="en-US" sz="2000" dirty="0">
                <a:latin typeface="Times New Roman" panose="02020603050405020304" pitchFamily="18" charset="0"/>
                <a:cs typeface="Times New Roman" panose="02020603050405020304" pitchFamily="18" charset="0"/>
              </a:rPr>
              <a:t>– Unique ID assigned to each individual transaction. </a:t>
            </a:r>
          </a:p>
          <a:p>
            <a:pPr marL="114300" indent="0">
              <a:buNone/>
            </a:pPr>
            <a:r>
              <a:rPr lang="en-US" sz="2000" b="1" dirty="0">
                <a:latin typeface="Times New Roman" panose="02020603050405020304" pitchFamily="18" charset="0"/>
                <a:cs typeface="Times New Roman" panose="02020603050405020304" pitchFamily="18" charset="0"/>
              </a:rPr>
              <a:t> CustomerID </a:t>
            </a:r>
            <a:r>
              <a:rPr lang="en-US" sz="2000" dirty="0">
                <a:latin typeface="Times New Roman" panose="02020603050405020304" pitchFamily="18" charset="0"/>
                <a:cs typeface="Times New Roman" panose="02020603050405020304" pitchFamily="18" charset="0"/>
              </a:rPr>
              <a:t>– Identifier linking each transaction to a specific customer. </a:t>
            </a:r>
          </a:p>
          <a:p>
            <a:pPr marL="114300" indent="0">
              <a:buNone/>
            </a:pPr>
            <a:r>
              <a:rPr lang="en-US" sz="2000" b="1" dirty="0">
                <a:latin typeface="Times New Roman" panose="02020603050405020304" pitchFamily="18" charset="0"/>
                <a:cs typeface="Times New Roman" panose="02020603050405020304" pitchFamily="18" charset="0"/>
              </a:rPr>
              <a:t> CustomerDOB </a:t>
            </a:r>
            <a:r>
              <a:rPr lang="en-US" sz="2000" dirty="0">
                <a:latin typeface="Times New Roman" panose="02020603050405020304" pitchFamily="18" charset="0"/>
                <a:cs typeface="Times New Roman" panose="02020603050405020304" pitchFamily="18" charset="0"/>
              </a:rPr>
              <a:t>– Date of birth of the customer, useful for calculating age. </a:t>
            </a:r>
          </a:p>
          <a:p>
            <a:pPr marL="114300" indent="0">
              <a:buNone/>
            </a:pPr>
            <a:r>
              <a:rPr lang="en-US" sz="2000" b="1" dirty="0">
                <a:latin typeface="Times New Roman" panose="02020603050405020304" pitchFamily="18" charset="0"/>
                <a:cs typeface="Times New Roman" panose="02020603050405020304" pitchFamily="18" charset="0"/>
              </a:rPr>
              <a:t> CustGender </a:t>
            </a:r>
            <a:r>
              <a:rPr lang="en-US" sz="2000" dirty="0">
                <a:latin typeface="Times New Roman" panose="02020603050405020304" pitchFamily="18" charset="0"/>
                <a:cs typeface="Times New Roman" panose="02020603050405020304" pitchFamily="18" charset="0"/>
              </a:rPr>
              <a:t>– Gender of the customer (e.g., Male, Female). </a:t>
            </a:r>
          </a:p>
          <a:p>
            <a:pPr marL="114300" indent="0">
              <a:buNone/>
            </a:pPr>
            <a:r>
              <a:rPr lang="en-US" sz="2000" b="1" dirty="0">
                <a:latin typeface="Times New Roman" panose="02020603050405020304" pitchFamily="18" charset="0"/>
                <a:cs typeface="Times New Roman" panose="02020603050405020304" pitchFamily="18" charset="0"/>
              </a:rPr>
              <a:t> CustLocation </a:t>
            </a:r>
            <a:r>
              <a:rPr lang="en-US" sz="2000" dirty="0">
                <a:latin typeface="Times New Roman" panose="02020603050405020304" pitchFamily="18" charset="0"/>
                <a:cs typeface="Times New Roman" panose="02020603050405020304" pitchFamily="18" charset="0"/>
              </a:rPr>
              <a:t>– Geographic location or city of the customer. </a:t>
            </a:r>
          </a:p>
          <a:p>
            <a:pPr marL="114300" indent="0">
              <a:buNone/>
            </a:pPr>
            <a:r>
              <a:rPr lang="en-US" sz="2000" b="1" dirty="0">
                <a:latin typeface="Times New Roman" panose="02020603050405020304" pitchFamily="18" charset="0"/>
                <a:cs typeface="Times New Roman" panose="02020603050405020304" pitchFamily="18" charset="0"/>
              </a:rPr>
              <a:t> CustAccountBalance </a:t>
            </a:r>
            <a:r>
              <a:rPr lang="en-US" sz="2000" dirty="0">
                <a:latin typeface="Times New Roman" panose="02020603050405020304" pitchFamily="18" charset="0"/>
                <a:cs typeface="Times New Roman" panose="02020603050405020304" pitchFamily="18" charset="0"/>
              </a:rPr>
              <a:t>– Account balance at the time of the transaction. </a:t>
            </a:r>
          </a:p>
          <a:p>
            <a:pPr marL="114300" indent="0">
              <a:buNone/>
            </a:pPr>
            <a:r>
              <a:rPr lang="en-US" sz="2000" b="1" dirty="0">
                <a:latin typeface="Times New Roman" panose="02020603050405020304" pitchFamily="18" charset="0"/>
                <a:cs typeface="Times New Roman" panose="02020603050405020304" pitchFamily="18" charset="0"/>
              </a:rPr>
              <a:t> TransactionDate </a:t>
            </a:r>
            <a:r>
              <a:rPr lang="en-US" sz="2000" dirty="0">
                <a:latin typeface="Times New Roman" panose="02020603050405020304" pitchFamily="18" charset="0"/>
                <a:cs typeface="Times New Roman" panose="02020603050405020304" pitchFamily="18" charset="0"/>
              </a:rPr>
              <a:t>– The date when the transaction occurred. </a:t>
            </a:r>
          </a:p>
          <a:p>
            <a:pPr marL="114300" indent="0">
              <a:buNone/>
            </a:pPr>
            <a:r>
              <a:rPr lang="en-US" sz="2000" b="1" dirty="0">
                <a:latin typeface="Times New Roman" panose="02020603050405020304" pitchFamily="18" charset="0"/>
                <a:cs typeface="Times New Roman" panose="02020603050405020304" pitchFamily="18" charset="0"/>
              </a:rPr>
              <a:t> TransactionTime </a:t>
            </a:r>
            <a:r>
              <a:rPr lang="en-US" sz="2000" dirty="0">
                <a:latin typeface="Times New Roman" panose="02020603050405020304" pitchFamily="18" charset="0"/>
                <a:cs typeface="Times New Roman" panose="02020603050405020304" pitchFamily="18" charset="0"/>
              </a:rPr>
              <a:t>– The exact time the transaction was executed. </a:t>
            </a:r>
          </a:p>
          <a:p>
            <a:pPr marL="114300" indent="0">
              <a:buNone/>
            </a:pPr>
            <a:r>
              <a:rPr lang="en-US" sz="2000" b="1" dirty="0">
                <a:latin typeface="Times New Roman" panose="02020603050405020304" pitchFamily="18" charset="0"/>
                <a:cs typeface="Times New Roman" panose="02020603050405020304" pitchFamily="18" charset="0"/>
              </a:rPr>
              <a:t> TransactionAmount (INR) </a:t>
            </a:r>
            <a:r>
              <a:rPr lang="en-US" sz="2000" dirty="0">
                <a:latin typeface="Times New Roman" panose="02020603050405020304" pitchFamily="18" charset="0"/>
                <a:cs typeface="Times New Roman" panose="02020603050405020304" pitchFamily="18" charset="0"/>
              </a:rPr>
              <a:t>– The amount of money involved in the transaction in INR.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578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F3A8B-F30A-1331-C788-74AF8D8BBE5F}"/>
              </a:ext>
            </a:extLst>
          </p:cNvPr>
          <p:cNvSpPr>
            <a:spLocks noGrp="1"/>
          </p:cNvSpPr>
          <p:nvPr>
            <p:ph type="title"/>
          </p:nvPr>
        </p:nvSpPr>
        <p:spPr>
          <a:xfrm>
            <a:off x="838200" y="0"/>
            <a:ext cx="10515600" cy="903236"/>
          </a:xfrm>
        </p:spPr>
        <p:txBody>
          <a:bodyPr>
            <a:normAutofit/>
          </a:bodyPr>
          <a:lstStyle/>
          <a:p>
            <a:pPr algn="ctr"/>
            <a:r>
              <a:rPr lang="en-IN" sz="4000" dirty="0">
                <a:solidFill>
                  <a:srgbClr val="FF0000"/>
                </a:solidFill>
                <a:latin typeface="Arial Rounded MT Bold" panose="020F0704030504030204" pitchFamily="34" charset="0"/>
              </a:rPr>
              <a:t>Data Preparation and Data Cleaning</a:t>
            </a:r>
          </a:p>
        </p:txBody>
      </p:sp>
      <p:sp>
        <p:nvSpPr>
          <p:cNvPr id="3" name="Text Placeholder 2">
            <a:extLst>
              <a:ext uri="{FF2B5EF4-FFF2-40B4-BE49-F238E27FC236}">
                <a16:creationId xmlns:a16="http://schemas.microsoft.com/office/drawing/2014/main" id="{52BD6FEF-C5DC-1652-601E-5B38EB7540F0}"/>
              </a:ext>
            </a:extLst>
          </p:cNvPr>
          <p:cNvSpPr>
            <a:spLocks noGrp="1"/>
          </p:cNvSpPr>
          <p:nvPr>
            <p:ph type="body" idx="1"/>
          </p:nvPr>
        </p:nvSpPr>
        <p:spPr>
          <a:xfrm>
            <a:off x="838200" y="738725"/>
            <a:ext cx="10815736" cy="5540777"/>
          </a:xfrm>
        </p:spPr>
        <p:txBody>
          <a:bodyPr>
            <a:normAutofit lnSpcReduction="10000"/>
          </a:bodyPr>
          <a:lstStyle/>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Removed null values from CustomerDOB, CustGender, and CustomerLocation columns.</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Filled null values in the CustAccountBalance column with ‘0’.</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Converted data type (CustomerDOB from Text to Date,CustAccountBalance from Text to Decimal Number,TransactionDate from Text to Date,TransactionTime from Text to Time).</a:t>
            </a:r>
          </a:p>
          <a:p>
            <a:pPr marL="114300" indent="0">
              <a:buNone/>
            </a:pPr>
            <a:r>
              <a:rPr lang="en-US" sz="2400" b="1" dirty="0">
                <a:latin typeface="Times New Roman" panose="02020603050405020304" pitchFamily="18" charset="0"/>
                <a:cs typeface="Times New Roman" panose="02020603050405020304" pitchFamily="18" charset="0"/>
              </a:rPr>
              <a:t>Added Columns </a:t>
            </a:r>
            <a:r>
              <a:rPr lang="en-US" sz="2000" b="1"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Age</a:t>
            </a:r>
            <a:r>
              <a:rPr lang="en-US" sz="2000" dirty="0">
                <a:latin typeface="Times New Roman" panose="02020603050405020304" pitchFamily="18" charset="0"/>
                <a:cs typeface="Times New Roman" panose="02020603050405020304" pitchFamily="18" charset="0"/>
              </a:rPr>
              <a:t>: Calculated based on the customer’s date of birth to understand their current age.</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Day of the Week</a:t>
            </a:r>
            <a:r>
              <a:rPr lang="en-US" sz="2000" dirty="0">
                <a:latin typeface="Times New Roman" panose="02020603050405020304" pitchFamily="18" charset="0"/>
                <a:cs typeface="Times New Roman" panose="02020603050405020304" pitchFamily="18" charset="0"/>
              </a:rPr>
              <a:t>: Extracted from the transaction date to identify which days have higher activity.</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Hour of the Day</a:t>
            </a:r>
            <a:r>
              <a:rPr lang="en-US" sz="2000" dirty="0">
                <a:latin typeface="Times New Roman" panose="02020603050405020304" pitchFamily="18" charset="0"/>
                <a:cs typeface="Times New Roman" panose="02020603050405020304" pitchFamily="18" charset="0"/>
              </a:rPr>
              <a:t>: Extracted from the transaction time to analyze peak transaction hours.</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Age Group</a:t>
            </a:r>
            <a:r>
              <a:rPr lang="en-US" sz="2000" dirty="0">
                <a:latin typeface="Times New Roman" panose="02020603050405020304" pitchFamily="18" charset="0"/>
                <a:cs typeface="Times New Roman" panose="02020603050405020304" pitchFamily="18" charset="0"/>
              </a:rPr>
              <a:t>: Categorized customers into groups (0-25,26-35,36-45,46-55,56-65,Above 65) for demographic analysis.</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CustomerCategory</a:t>
            </a:r>
            <a:r>
              <a:rPr lang="en-US" sz="2000" dirty="0">
                <a:latin typeface="Times New Roman" panose="02020603050405020304" pitchFamily="18" charset="0"/>
                <a:cs typeface="Times New Roman" panose="02020603050405020304" pitchFamily="18" charset="0"/>
              </a:rPr>
              <a:t>: Classified customers as Lost, New , and Loyal based on their recent transaction behavior and engagement frequency.</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RMF Score</a:t>
            </a:r>
            <a:r>
              <a:rPr lang="en-US" sz="2000" dirty="0">
                <a:latin typeface="Times New Roman" panose="02020603050405020304" pitchFamily="18" charset="0"/>
                <a:cs typeface="Times New Roman" panose="02020603050405020304" pitchFamily="18" charset="0"/>
              </a:rPr>
              <a:t>: A combined score based on Recency, Monetary, and Frequency metrics to evaluate customer value and loyalty.</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RMF Category</a:t>
            </a:r>
            <a:r>
              <a:rPr lang="en-US" sz="2000" dirty="0">
                <a:latin typeface="Times New Roman" panose="02020603050405020304" pitchFamily="18" charset="0"/>
                <a:cs typeface="Times New Roman" panose="02020603050405020304" pitchFamily="18" charset="0"/>
              </a:rPr>
              <a:t>: Segmented customers according to RMF score thresholds : ≤ 259 → Low, ≤407 → Medium, &gt; 407 → High.</a:t>
            </a:r>
          </a:p>
          <a:p>
            <a:pPr marL="11430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2826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0E274B-2BE6-E32D-9411-2FAAAFF1683A}"/>
              </a:ext>
            </a:extLst>
          </p:cNvPr>
          <p:cNvPicPr>
            <a:picLocks noChangeAspect="1"/>
          </p:cNvPicPr>
          <p:nvPr/>
        </p:nvPicPr>
        <p:blipFill>
          <a:blip r:embed="rId2"/>
          <a:stretch>
            <a:fillRect/>
          </a:stretch>
        </p:blipFill>
        <p:spPr>
          <a:xfrm>
            <a:off x="0" y="0"/>
            <a:ext cx="12437806" cy="6857999"/>
          </a:xfrm>
          <a:prstGeom prst="rect">
            <a:avLst/>
          </a:prstGeom>
        </p:spPr>
      </p:pic>
    </p:spTree>
    <p:extLst>
      <p:ext uri="{BB962C8B-B14F-4D97-AF65-F5344CB8AC3E}">
        <p14:creationId xmlns:p14="http://schemas.microsoft.com/office/powerpoint/2010/main" val="2297673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65C9-01EA-364B-89E3-8C04A5196E85}"/>
              </a:ext>
            </a:extLst>
          </p:cNvPr>
          <p:cNvSpPr>
            <a:spLocks noGrp="1"/>
          </p:cNvSpPr>
          <p:nvPr>
            <p:ph type="title"/>
          </p:nvPr>
        </p:nvSpPr>
        <p:spPr>
          <a:xfrm>
            <a:off x="954958" y="0"/>
            <a:ext cx="10515600" cy="845575"/>
          </a:xfrm>
        </p:spPr>
        <p:txBody>
          <a:bodyPr>
            <a:normAutofit/>
          </a:bodyPr>
          <a:lstStyle/>
          <a:p>
            <a:pPr algn="ctr"/>
            <a:r>
              <a:rPr lang="en-IN" sz="4000" b="1" dirty="0">
                <a:solidFill>
                  <a:srgbClr val="FF0000"/>
                </a:solidFill>
                <a:latin typeface="Arial Rounded MT Bold" panose="020F0704030504030204" pitchFamily="34" charset="0"/>
              </a:rPr>
              <a:t>Customer Demographics Insights</a:t>
            </a:r>
            <a:endParaRPr lang="en-IN" sz="4000" dirty="0">
              <a:solidFill>
                <a:srgbClr val="FF0000"/>
              </a:solidFill>
              <a:latin typeface="Arial Rounded MT Bold" panose="020F0704030504030204" pitchFamily="34" charset="0"/>
            </a:endParaRPr>
          </a:p>
        </p:txBody>
      </p:sp>
      <p:sp>
        <p:nvSpPr>
          <p:cNvPr id="3" name="Text Placeholder 2">
            <a:extLst>
              <a:ext uri="{FF2B5EF4-FFF2-40B4-BE49-F238E27FC236}">
                <a16:creationId xmlns:a16="http://schemas.microsoft.com/office/drawing/2014/main" id="{4C5E8300-1B68-076F-36AE-B1F6A6AF4EF7}"/>
              </a:ext>
            </a:extLst>
          </p:cNvPr>
          <p:cNvSpPr>
            <a:spLocks noGrp="1"/>
          </p:cNvSpPr>
          <p:nvPr>
            <p:ph type="body" idx="1"/>
          </p:nvPr>
        </p:nvSpPr>
        <p:spPr>
          <a:xfrm>
            <a:off x="838200" y="845575"/>
            <a:ext cx="10515600" cy="5331388"/>
          </a:xfrm>
        </p:spPr>
        <p:txBody>
          <a:bodyPr>
            <a:normAutofit/>
          </a:bodyPr>
          <a:lstStyle/>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Total Unique Customers are around 8,80,962.</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Average age of customers is  39 years .</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Total unique locations are 9298.</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Male customers</a:t>
            </a:r>
            <a:r>
              <a:rPr lang="en-US" sz="2000" dirty="0">
                <a:latin typeface="Times New Roman" panose="02020603050405020304" pitchFamily="18" charset="0"/>
                <a:cs typeface="Times New Roman" panose="02020603050405020304" pitchFamily="18" charset="0"/>
              </a:rPr>
              <a:t> make up </a:t>
            </a:r>
            <a:r>
              <a:rPr lang="en-US" sz="2000" b="1" dirty="0">
                <a:latin typeface="Times New Roman" panose="02020603050405020304" pitchFamily="18" charset="0"/>
                <a:cs typeface="Times New Roman" panose="02020603050405020304" pitchFamily="18" charset="0"/>
              </a:rPr>
              <a:t>71.5%</a:t>
            </a:r>
            <a:r>
              <a:rPr lang="en-US" sz="2000" dirty="0">
                <a:latin typeface="Times New Roman" panose="02020603050405020304" pitchFamily="18" charset="0"/>
                <a:cs typeface="Times New Roman" panose="02020603050405020304" pitchFamily="18" charset="0"/>
              </a:rPr>
              <a:t> of the total, while </a:t>
            </a:r>
            <a:r>
              <a:rPr lang="en-US" sz="2000" b="1" dirty="0">
                <a:latin typeface="Times New Roman" panose="02020603050405020304" pitchFamily="18" charset="0"/>
                <a:cs typeface="Times New Roman" panose="02020603050405020304" pitchFamily="18" charset="0"/>
              </a:rPr>
              <a:t>female customers</a:t>
            </a:r>
            <a:r>
              <a:rPr lang="en-US" sz="2000" dirty="0">
                <a:latin typeface="Times New Roman" panose="02020603050405020304" pitchFamily="18" charset="0"/>
                <a:cs typeface="Times New Roman" panose="02020603050405020304" pitchFamily="18" charset="0"/>
              </a:rPr>
              <a:t> account for </a:t>
            </a:r>
            <a:r>
              <a:rPr lang="en-US" sz="2000" b="1" dirty="0">
                <a:latin typeface="Times New Roman" panose="02020603050405020304" pitchFamily="18" charset="0"/>
                <a:cs typeface="Times New Roman" panose="02020603050405020304" pitchFamily="18" charset="0"/>
              </a:rPr>
              <a:t>28.5%</a:t>
            </a:r>
            <a:r>
              <a:rPr lang="en-US" sz="2000" dirty="0">
                <a:latin typeface="Times New Roman" panose="02020603050405020304" pitchFamily="18" charset="0"/>
                <a:cs typeface="Times New Roman" panose="02020603050405020304" pitchFamily="18" charset="0"/>
              </a:rPr>
              <a:t>, indicating that males are the majority.</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36–45 age group</a:t>
            </a:r>
            <a:r>
              <a:rPr lang="en-US" sz="2000" dirty="0">
                <a:latin typeface="Times New Roman" panose="02020603050405020304" pitchFamily="18" charset="0"/>
                <a:cs typeface="Times New Roman" panose="02020603050405020304" pitchFamily="18" charset="0"/>
              </a:rPr>
              <a:t> has the </a:t>
            </a:r>
            <a:r>
              <a:rPr lang="en-US" sz="2000" b="1" dirty="0">
                <a:latin typeface="Times New Roman" panose="02020603050405020304" pitchFamily="18" charset="0"/>
                <a:cs typeface="Times New Roman" panose="02020603050405020304" pitchFamily="18" charset="0"/>
              </a:rPr>
              <a:t>highest number of customers</a:t>
            </a:r>
            <a:r>
              <a:rPr lang="en-US" sz="2000" dirty="0">
                <a:latin typeface="Times New Roman" panose="02020603050405020304" pitchFamily="18" charset="0"/>
                <a:cs typeface="Times New Roman" panose="02020603050405020304" pitchFamily="18" charset="0"/>
              </a:rPr>
              <a:t> (around </a:t>
            </a:r>
            <a:r>
              <a:rPr lang="en-US" sz="2000" b="1" dirty="0">
                <a:latin typeface="Times New Roman" panose="02020603050405020304" pitchFamily="18" charset="0"/>
                <a:cs typeface="Times New Roman" panose="02020603050405020304" pitchFamily="18" charset="0"/>
              </a:rPr>
              <a:t>4,11,610</a:t>
            </a:r>
            <a:r>
              <a:rPr lang="en-US" sz="2000" dirty="0">
                <a:latin typeface="Times New Roman" panose="02020603050405020304" pitchFamily="18" charset="0"/>
                <a:cs typeface="Times New Roman" panose="02020603050405020304" pitchFamily="18" charset="0"/>
              </a:rPr>
              <a:t>).Among males, the </a:t>
            </a:r>
            <a:r>
              <a:rPr lang="en-US" sz="2000" b="1" dirty="0">
                <a:latin typeface="Times New Roman" panose="02020603050405020304" pitchFamily="18" charset="0"/>
                <a:cs typeface="Times New Roman" panose="02020603050405020304" pitchFamily="18" charset="0"/>
              </a:rPr>
              <a:t>46–55 age group</a:t>
            </a:r>
            <a:r>
              <a:rPr lang="en-US" sz="2000" dirty="0">
                <a:latin typeface="Times New Roman" panose="02020603050405020304" pitchFamily="18" charset="0"/>
                <a:cs typeface="Times New Roman" panose="02020603050405020304" pitchFamily="18" charset="0"/>
              </a:rPr>
              <a:t> has the </a:t>
            </a:r>
            <a:r>
              <a:rPr lang="en-US" sz="2000" b="1" dirty="0">
                <a:latin typeface="Times New Roman" panose="02020603050405020304" pitchFamily="18" charset="0"/>
                <a:cs typeface="Times New Roman" panose="02020603050405020304" pitchFamily="18" charset="0"/>
              </a:rPr>
              <a:t>most customers</a:t>
            </a:r>
            <a:r>
              <a:rPr lang="en-US" sz="2000" dirty="0">
                <a:latin typeface="Times New Roman" panose="02020603050405020304" pitchFamily="18" charset="0"/>
                <a:cs typeface="Times New Roman" panose="02020603050405020304" pitchFamily="18" charset="0"/>
              </a:rPr>
              <a:t> (around </a:t>
            </a:r>
            <a:r>
              <a:rPr lang="en-US" sz="2000" b="1" dirty="0">
                <a:latin typeface="Times New Roman" panose="02020603050405020304" pitchFamily="18" charset="0"/>
                <a:cs typeface="Times New Roman" panose="02020603050405020304" pitchFamily="18" charset="0"/>
              </a:rPr>
              <a:t>95,042</a:t>
            </a:r>
            <a:r>
              <a:rPr lang="en-US" sz="2000" dirty="0">
                <a:latin typeface="Times New Roman" panose="02020603050405020304" pitchFamily="18" charset="0"/>
                <a:cs typeface="Times New Roman" panose="02020603050405020304" pitchFamily="18" charset="0"/>
              </a:rPr>
              <a:t>).Among females, the </a:t>
            </a:r>
            <a:r>
              <a:rPr lang="en-US" sz="2000" b="1" dirty="0">
                <a:latin typeface="Times New Roman" panose="02020603050405020304" pitchFamily="18" charset="0"/>
                <a:cs typeface="Times New Roman" panose="02020603050405020304" pitchFamily="18" charset="0"/>
              </a:rPr>
              <a:t>26–35 age group</a:t>
            </a:r>
            <a:r>
              <a:rPr lang="en-US" sz="2000" dirty="0">
                <a:latin typeface="Times New Roman" panose="02020603050405020304" pitchFamily="18" charset="0"/>
                <a:cs typeface="Times New Roman" panose="02020603050405020304" pitchFamily="18" charset="0"/>
              </a:rPr>
              <a:t> has the </a:t>
            </a:r>
            <a:r>
              <a:rPr lang="en-US" sz="2000" b="1" dirty="0">
                <a:latin typeface="Times New Roman" panose="02020603050405020304" pitchFamily="18" charset="0"/>
                <a:cs typeface="Times New Roman" panose="02020603050405020304" pitchFamily="18" charset="0"/>
              </a:rPr>
              <a:t>most customers</a:t>
            </a:r>
            <a:r>
              <a:rPr lang="en-US" sz="2000" dirty="0">
                <a:latin typeface="Times New Roman" panose="02020603050405020304" pitchFamily="18" charset="0"/>
                <a:cs typeface="Times New Roman" panose="02020603050405020304" pitchFamily="18" charset="0"/>
              </a:rPr>
              <a:t> (around </a:t>
            </a:r>
            <a:r>
              <a:rPr lang="en-US" sz="2000" b="1" dirty="0">
                <a:latin typeface="Times New Roman" panose="02020603050405020304" pitchFamily="18" charset="0"/>
                <a:cs typeface="Times New Roman" panose="02020603050405020304" pitchFamily="18" charset="0"/>
              </a:rPr>
              <a:t>1,10,585</a:t>
            </a:r>
            <a:r>
              <a:rPr 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top customer locations</a:t>
            </a:r>
            <a:r>
              <a:rPr lang="en-US" sz="2000" dirty="0">
                <a:latin typeface="Times New Roman" panose="02020603050405020304" pitchFamily="18" charset="0"/>
                <a:cs typeface="Times New Roman" panose="02020603050405020304" pitchFamily="18" charset="0"/>
              </a:rPr>
              <a:t> are </a:t>
            </a:r>
            <a:r>
              <a:rPr lang="en-US" sz="2000" b="1" dirty="0">
                <a:latin typeface="Times New Roman" panose="02020603050405020304" pitchFamily="18" charset="0"/>
                <a:cs typeface="Times New Roman" panose="02020603050405020304" pitchFamily="18" charset="0"/>
              </a:rPr>
              <a:t>Mumbai</a:t>
            </a:r>
            <a:r>
              <a:rPr lang="en-US" sz="2000" dirty="0">
                <a:latin typeface="Times New Roman" panose="02020603050405020304" pitchFamily="18" charset="0"/>
                <a:cs typeface="Times New Roman" panose="02020603050405020304" pitchFamily="18" charset="0"/>
              </a:rPr>
              <a:t>, followed by </a:t>
            </a:r>
            <a:r>
              <a:rPr lang="en-US" sz="2000" b="1" dirty="0">
                <a:latin typeface="Times New Roman" panose="02020603050405020304" pitchFamily="18" charset="0"/>
                <a:cs typeface="Times New Roman" panose="02020603050405020304" pitchFamily="18" charset="0"/>
              </a:rPr>
              <a:t>New Delhi</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Bangalore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Gurgaon</a:t>
            </a:r>
            <a:r>
              <a:rPr lang="en-US" sz="2000" dirty="0">
                <a:latin typeface="Times New Roman" panose="02020603050405020304" pitchFamily="18" charset="0"/>
                <a:cs typeface="Times New Roman" panose="02020603050405020304" pitchFamily="18" charset="0"/>
              </a:rPr>
              <a:t>. Based on the location data, </a:t>
            </a:r>
            <a:r>
              <a:rPr lang="en-US" sz="2000" b="1" dirty="0">
                <a:latin typeface="Times New Roman" panose="02020603050405020304" pitchFamily="18" charset="0"/>
                <a:cs typeface="Times New Roman" panose="02020603050405020304" pitchFamily="18" charset="0"/>
              </a:rPr>
              <a:t>most customers are from urban areas</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84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CD79952-C641-D09A-C7D0-4C2C2EA43CA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337804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D19FB-C3AB-28B2-2EAB-70673B665FD3}"/>
              </a:ext>
            </a:extLst>
          </p:cNvPr>
          <p:cNvSpPr>
            <a:spLocks noGrp="1"/>
          </p:cNvSpPr>
          <p:nvPr>
            <p:ph type="title"/>
          </p:nvPr>
        </p:nvSpPr>
        <p:spPr>
          <a:xfrm>
            <a:off x="838200" y="79990"/>
            <a:ext cx="10515600" cy="755752"/>
          </a:xfrm>
        </p:spPr>
        <p:txBody>
          <a:bodyPr>
            <a:normAutofit/>
          </a:bodyPr>
          <a:lstStyle/>
          <a:p>
            <a:pPr algn="ctr"/>
            <a:r>
              <a:rPr lang="en-IN" sz="4000" b="1" dirty="0">
                <a:solidFill>
                  <a:srgbClr val="FF0000"/>
                </a:solidFill>
                <a:latin typeface="Arial Rounded MT Bold" panose="020F0704030504030204" pitchFamily="34" charset="0"/>
              </a:rPr>
              <a:t>Transaction Behavior Insights </a:t>
            </a:r>
            <a:endParaRPr lang="en-IN" sz="4000" dirty="0">
              <a:solidFill>
                <a:srgbClr val="FF0000"/>
              </a:solidFill>
              <a:latin typeface="Arial Rounded MT Bold" panose="020F0704030504030204" pitchFamily="34" charset="0"/>
            </a:endParaRPr>
          </a:p>
        </p:txBody>
      </p:sp>
      <p:sp>
        <p:nvSpPr>
          <p:cNvPr id="3" name="Text Placeholder 2">
            <a:extLst>
              <a:ext uri="{FF2B5EF4-FFF2-40B4-BE49-F238E27FC236}">
                <a16:creationId xmlns:a16="http://schemas.microsoft.com/office/drawing/2014/main" id="{EAC9A5EA-C95E-3C70-8F1B-357ED909BB47}"/>
              </a:ext>
            </a:extLst>
          </p:cNvPr>
          <p:cNvSpPr>
            <a:spLocks noGrp="1"/>
          </p:cNvSpPr>
          <p:nvPr>
            <p:ph type="body" idx="1"/>
          </p:nvPr>
        </p:nvSpPr>
        <p:spPr>
          <a:xfrm>
            <a:off x="838200" y="835742"/>
            <a:ext cx="10685107" cy="5499744"/>
          </a:xfrm>
        </p:spPr>
        <p:txBody>
          <a:bodyPr>
            <a:normAutofit/>
          </a:bodyPr>
          <a:lstStyle/>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total transaction volume</a:t>
            </a:r>
            <a:r>
              <a:rPr lang="en-US" sz="2000" dirty="0">
                <a:latin typeface="Times New Roman" panose="02020603050405020304" pitchFamily="18" charset="0"/>
                <a:cs typeface="Times New Roman" panose="02020603050405020304" pitchFamily="18" charset="0"/>
              </a:rPr>
              <a:t> is approximately </a:t>
            </a:r>
            <a:r>
              <a:rPr lang="en-US" sz="2000" b="1" dirty="0">
                <a:latin typeface="Times New Roman" panose="02020603050405020304" pitchFamily="18" charset="0"/>
                <a:cs typeface="Times New Roman" panose="02020603050405020304" pitchFamily="18" charset="0"/>
              </a:rPr>
              <a:t>1.64 billion</a:t>
            </a:r>
            <a:r>
              <a:rPr lang="en-US" sz="2000" dirty="0">
                <a:latin typeface="Times New Roman" panose="02020603050405020304" pitchFamily="18" charset="0"/>
                <a:cs typeface="Times New Roman" panose="02020603050405020304" pitchFamily="18" charset="0"/>
              </a:rPr>
              <a:t>, with an </a:t>
            </a:r>
            <a:r>
              <a:rPr lang="en-US" sz="2000" b="1" dirty="0">
                <a:latin typeface="Times New Roman" panose="02020603050405020304" pitchFamily="18" charset="0"/>
                <a:cs typeface="Times New Roman" panose="02020603050405020304" pitchFamily="18" charset="0"/>
              </a:rPr>
              <a:t>average transaction amount</a:t>
            </a:r>
            <a:r>
              <a:rPr lang="en-US" sz="2000" dirty="0">
                <a:latin typeface="Times New Roman" panose="02020603050405020304" pitchFamily="18" charset="0"/>
                <a:cs typeface="Times New Roman" panose="02020603050405020304" pitchFamily="18" charset="0"/>
              </a:rPr>
              <a:t> of </a:t>
            </a:r>
            <a:r>
              <a:rPr lang="en-US" sz="2000" b="1" dirty="0">
                <a:latin typeface="Times New Roman" panose="02020603050405020304" pitchFamily="18" charset="0"/>
                <a:cs typeface="Times New Roman" panose="02020603050405020304" pitchFamily="18" charset="0"/>
              </a:rPr>
              <a:t>₹1.57K</a:t>
            </a:r>
            <a:r>
              <a:rPr 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maximum transaction amount</a:t>
            </a:r>
            <a:r>
              <a:rPr lang="en-US" sz="2000" dirty="0">
                <a:latin typeface="Times New Roman" panose="02020603050405020304" pitchFamily="18" charset="0"/>
                <a:cs typeface="Times New Roman" panose="02020603050405020304" pitchFamily="18" charset="0"/>
              </a:rPr>
              <a:t> recorded is </a:t>
            </a:r>
            <a:r>
              <a:rPr lang="en-US" sz="2000" b="1" dirty="0">
                <a:latin typeface="Times New Roman" panose="02020603050405020304" pitchFamily="18" charset="0"/>
                <a:cs typeface="Times New Roman" panose="02020603050405020304" pitchFamily="18" charset="0"/>
              </a:rPr>
              <a:t>₹1.56 million</a:t>
            </a:r>
            <a:r>
              <a:rPr lang="en-US" sz="2000" dirty="0">
                <a:latin typeface="Times New Roman" panose="02020603050405020304" pitchFamily="18" charset="0"/>
                <a:cs typeface="Times New Roman" panose="02020603050405020304" pitchFamily="18" charset="0"/>
              </a:rPr>
              <a:t>, while the </a:t>
            </a:r>
            <a:r>
              <a:rPr lang="en-US" sz="2000" b="1" dirty="0">
                <a:latin typeface="Times New Roman" panose="02020603050405020304" pitchFamily="18" charset="0"/>
                <a:cs typeface="Times New Roman" panose="02020603050405020304" pitchFamily="18" charset="0"/>
              </a:rPr>
              <a:t>average account balance</a:t>
            </a:r>
            <a:r>
              <a:rPr lang="en-US" sz="2000" dirty="0">
                <a:latin typeface="Times New Roman" panose="02020603050405020304" pitchFamily="18" charset="0"/>
                <a:cs typeface="Times New Roman" panose="02020603050405020304" pitchFamily="18" charset="0"/>
              </a:rPr>
              <a:t> is </a:t>
            </a:r>
            <a:r>
              <a:rPr lang="en-US" sz="2000" b="1" dirty="0">
                <a:latin typeface="Times New Roman" panose="02020603050405020304" pitchFamily="18" charset="0"/>
                <a:cs typeface="Times New Roman" panose="02020603050405020304" pitchFamily="18" charset="0"/>
              </a:rPr>
              <a:t>₹114.55K</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transaction volume decreased</a:t>
            </a:r>
            <a:r>
              <a:rPr lang="en-US" sz="2000" dirty="0">
                <a:latin typeface="Times New Roman" panose="02020603050405020304" pitchFamily="18" charset="0"/>
                <a:cs typeface="Times New Roman" panose="02020603050405020304" pitchFamily="18" charset="0"/>
              </a:rPr>
              <a:t> steadily from </a:t>
            </a:r>
            <a:r>
              <a:rPr lang="en-US" sz="2000" b="1" dirty="0">
                <a:latin typeface="Times New Roman" panose="02020603050405020304" pitchFamily="18" charset="0"/>
                <a:cs typeface="Times New Roman" panose="02020603050405020304" pitchFamily="18" charset="0"/>
              </a:rPr>
              <a:t>August 2016 to October 2016</a:t>
            </a:r>
            <a:r>
              <a:rPr 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highest transaction volume</a:t>
            </a:r>
            <a:r>
              <a:rPr lang="en-US" sz="2000" dirty="0">
                <a:latin typeface="Times New Roman" panose="02020603050405020304" pitchFamily="18" charset="0"/>
                <a:cs typeface="Times New Roman" panose="02020603050405020304" pitchFamily="18" charset="0"/>
              </a:rPr>
              <a:t> was on </a:t>
            </a:r>
            <a:r>
              <a:rPr lang="en-US" sz="2000" b="1" dirty="0">
                <a:latin typeface="Times New Roman" panose="02020603050405020304" pitchFamily="18" charset="0"/>
                <a:cs typeface="Times New Roman" panose="02020603050405020304" pitchFamily="18" charset="0"/>
              </a:rPr>
              <a:t>3rd August (₹4,73,16,251)</a:t>
            </a:r>
            <a:r>
              <a:rPr lang="en-US" sz="2000" dirty="0">
                <a:latin typeface="Times New Roman" panose="02020603050405020304" pitchFamily="18" charset="0"/>
                <a:cs typeface="Times New Roman" panose="02020603050405020304" pitchFamily="18" charset="0"/>
              </a:rPr>
              <a:t>, followed by </a:t>
            </a:r>
            <a:r>
              <a:rPr lang="en-US" sz="2000" b="1" dirty="0">
                <a:latin typeface="Times New Roman" panose="02020603050405020304" pitchFamily="18" charset="0"/>
                <a:cs typeface="Times New Roman" panose="02020603050405020304" pitchFamily="18" charset="0"/>
              </a:rPr>
              <a:t>4th September (₹4,59,15,954)</a:t>
            </a:r>
            <a:r>
              <a:rPr 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There was a </a:t>
            </a:r>
            <a:r>
              <a:rPr lang="en-US" sz="2000" b="1" dirty="0">
                <a:latin typeface="Times New Roman" panose="02020603050405020304" pitchFamily="18" charset="0"/>
                <a:cs typeface="Times New Roman" panose="02020603050405020304" pitchFamily="18" charset="0"/>
              </a:rPr>
              <a:t>97% increase</a:t>
            </a:r>
            <a:r>
              <a:rPr lang="en-US" sz="2000" dirty="0">
                <a:latin typeface="Times New Roman" panose="02020603050405020304" pitchFamily="18" charset="0"/>
                <a:cs typeface="Times New Roman" panose="02020603050405020304" pitchFamily="18" charset="0"/>
              </a:rPr>
              <a:t> in transaction volume from </a:t>
            </a:r>
            <a:r>
              <a:rPr lang="en-US" sz="2000" b="1" dirty="0">
                <a:latin typeface="Times New Roman" panose="02020603050405020304" pitchFamily="18" charset="0"/>
                <a:cs typeface="Times New Roman" panose="02020603050405020304" pitchFamily="18" charset="0"/>
              </a:rPr>
              <a:t>29th August to 4th September</a:t>
            </a:r>
            <a:r>
              <a:rPr lang="en-US" sz="2000" dirty="0">
                <a:latin typeface="Times New Roman" panose="02020603050405020304" pitchFamily="18" charset="0"/>
                <a:cs typeface="Times New Roman" panose="02020603050405020304" pitchFamily="18" charset="0"/>
              </a:rPr>
              <a:t>, followed by a </a:t>
            </a:r>
            <a:r>
              <a:rPr lang="en-US" sz="2000" b="1" dirty="0">
                <a:latin typeface="Times New Roman" panose="02020603050405020304" pitchFamily="18" charset="0"/>
                <a:cs typeface="Times New Roman" panose="02020603050405020304" pitchFamily="18" charset="0"/>
              </a:rPr>
              <a:t>drastic 84% decrease</a:t>
            </a:r>
            <a:r>
              <a:rPr lang="en-US" sz="2000" dirty="0">
                <a:latin typeface="Times New Roman" panose="02020603050405020304" pitchFamily="18" charset="0"/>
                <a:cs typeface="Times New Roman" panose="02020603050405020304" pitchFamily="18" charset="0"/>
              </a:rPr>
              <a:t> from </a:t>
            </a:r>
            <a:r>
              <a:rPr lang="en-US" sz="2000" b="1" dirty="0">
                <a:latin typeface="Times New Roman" panose="02020603050405020304" pitchFamily="18" charset="0"/>
                <a:cs typeface="Times New Roman" panose="02020603050405020304" pitchFamily="18" charset="0"/>
              </a:rPr>
              <a:t>14th to 23rd September</a:t>
            </a:r>
            <a:r>
              <a:rPr 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By </a:t>
            </a:r>
            <a:r>
              <a:rPr lang="en-US" sz="2000" b="1" dirty="0">
                <a:latin typeface="Times New Roman" panose="02020603050405020304" pitchFamily="18" charset="0"/>
                <a:cs typeface="Times New Roman" panose="02020603050405020304" pitchFamily="18" charset="0"/>
              </a:rPr>
              <a:t>October</a:t>
            </a:r>
            <a:r>
              <a:rPr lang="en-US" sz="2000" dirty="0">
                <a:latin typeface="Times New Roman" panose="02020603050405020304" pitchFamily="18" charset="0"/>
                <a:cs typeface="Times New Roman" panose="02020603050405020304" pitchFamily="18" charset="0"/>
              </a:rPr>
              <a:t>, the transaction volume had dropped significantly.</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Weekends</a:t>
            </a:r>
            <a:r>
              <a:rPr lang="en-US" sz="2000" dirty="0">
                <a:latin typeface="Times New Roman" panose="02020603050405020304" pitchFamily="18" charset="0"/>
                <a:cs typeface="Times New Roman" panose="02020603050405020304" pitchFamily="18" charset="0"/>
              </a:rPr>
              <a:t> in </a:t>
            </a:r>
            <a:r>
              <a:rPr lang="en-US" sz="2000" b="1" dirty="0">
                <a:latin typeface="Times New Roman" panose="02020603050405020304" pitchFamily="18" charset="0"/>
                <a:cs typeface="Times New Roman" panose="02020603050405020304" pitchFamily="18" charset="0"/>
              </a:rPr>
              <a:t>August and September</a:t>
            </a:r>
            <a:r>
              <a:rPr lang="en-US" sz="2000" dirty="0">
                <a:latin typeface="Times New Roman" panose="02020603050405020304" pitchFamily="18" charset="0"/>
                <a:cs typeface="Times New Roman" panose="02020603050405020304" pitchFamily="18" charset="0"/>
              </a:rPr>
              <a:t> had </a:t>
            </a:r>
            <a:r>
              <a:rPr lang="en-US" sz="2000" b="1" dirty="0">
                <a:latin typeface="Times New Roman" panose="02020603050405020304" pitchFamily="18" charset="0"/>
                <a:cs typeface="Times New Roman" panose="02020603050405020304" pitchFamily="18" charset="0"/>
              </a:rPr>
              <a:t>higher transaction volumes</a:t>
            </a:r>
            <a:r>
              <a:rPr lang="en-US" sz="2000" dirty="0">
                <a:latin typeface="Times New Roman" panose="02020603050405020304" pitchFamily="18" charset="0"/>
                <a:cs typeface="Times New Roman" panose="02020603050405020304" pitchFamily="18" charset="0"/>
              </a:rPr>
              <a:t> compared to weekdays.</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peak transaction time</a:t>
            </a:r>
            <a:r>
              <a:rPr lang="en-US" sz="2000" dirty="0">
                <a:latin typeface="Times New Roman" panose="02020603050405020304" pitchFamily="18" charset="0"/>
                <a:cs typeface="Times New Roman" panose="02020603050405020304" pitchFamily="18" charset="0"/>
              </a:rPr>
              <a:t> is around </a:t>
            </a:r>
            <a:r>
              <a:rPr lang="en-US" sz="2000" b="1" dirty="0">
                <a:latin typeface="Times New Roman" panose="02020603050405020304" pitchFamily="18" charset="0"/>
                <a:cs typeface="Times New Roman" panose="02020603050405020304" pitchFamily="18" charset="0"/>
              </a:rPr>
              <a:t>7 PM on Sundays</a:t>
            </a:r>
            <a:r>
              <a:rPr lang="en-US" sz="2000" dirty="0">
                <a:latin typeface="Times New Roman" panose="02020603050405020304" pitchFamily="18" charset="0"/>
                <a:cs typeface="Times New Roman" panose="02020603050405020304" pitchFamily="18" charset="0"/>
              </a:rPr>
              <a:t>, and on other days, most transactions also occur between </a:t>
            </a:r>
            <a:r>
              <a:rPr lang="en-US" sz="2000" b="1" dirty="0">
                <a:latin typeface="Times New Roman" panose="02020603050405020304" pitchFamily="18" charset="0"/>
                <a:cs typeface="Times New Roman" panose="02020603050405020304" pitchFamily="18" charset="0"/>
              </a:rPr>
              <a:t>7 PM and 8 PM</a:t>
            </a:r>
            <a:r>
              <a:rPr 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Customers</a:t>
            </a:r>
            <a:r>
              <a:rPr lang="en-US" sz="2000" b="1" dirty="0">
                <a:latin typeface="Times New Roman" panose="02020603050405020304" pitchFamily="18" charset="0"/>
                <a:cs typeface="Times New Roman" panose="02020603050405020304" pitchFamily="18" charset="0"/>
              </a:rPr>
              <a:t> aged above 65</a:t>
            </a:r>
            <a:r>
              <a:rPr lang="en-US" sz="2000" dirty="0">
                <a:latin typeface="Times New Roman" panose="02020603050405020304" pitchFamily="18" charset="0"/>
                <a:cs typeface="Times New Roman" panose="02020603050405020304" pitchFamily="18" charset="0"/>
              </a:rPr>
              <a:t> have the </a:t>
            </a:r>
            <a:r>
              <a:rPr lang="en-US" sz="2000" b="1" dirty="0">
                <a:latin typeface="Times New Roman" panose="02020603050405020304" pitchFamily="18" charset="0"/>
                <a:cs typeface="Times New Roman" panose="02020603050405020304" pitchFamily="18" charset="0"/>
              </a:rPr>
              <a:t>highest average transaction amount</a:t>
            </a:r>
            <a:r>
              <a:rPr lang="en-US" sz="2000" dirty="0">
                <a:latin typeface="Times New Roman" panose="02020603050405020304" pitchFamily="18" charset="0"/>
                <a:cs typeface="Times New Roman" panose="02020603050405020304" pitchFamily="18" charset="0"/>
              </a:rPr>
              <a:t>, while </a:t>
            </a:r>
            <a:r>
              <a:rPr lang="en-US" sz="2000" b="1" dirty="0">
                <a:latin typeface="Times New Roman" panose="02020603050405020304" pitchFamily="18" charset="0"/>
                <a:cs typeface="Times New Roman" panose="02020603050405020304" pitchFamily="18" charset="0"/>
              </a:rPr>
              <a:t>males aged 0–25</a:t>
            </a:r>
            <a:r>
              <a:rPr lang="en-US" sz="2000" dirty="0">
                <a:latin typeface="Times New Roman" panose="02020603050405020304" pitchFamily="18" charset="0"/>
                <a:cs typeface="Times New Roman" panose="02020603050405020304" pitchFamily="18" charset="0"/>
              </a:rPr>
              <a:t> also record high average transaction amounts.</a:t>
            </a:r>
          </a:p>
          <a:p>
            <a:pPr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82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57BE65-1404-0321-9DC5-C7F89F8BEDF2}"/>
              </a:ext>
            </a:extLst>
          </p:cNvPr>
          <p:cNvPicPr>
            <a:picLocks noChangeAspect="1"/>
          </p:cNvPicPr>
          <p:nvPr/>
        </p:nvPicPr>
        <p:blipFill>
          <a:blip r:embed="rId2"/>
          <a:stretch>
            <a:fillRect/>
          </a:stretch>
        </p:blipFill>
        <p:spPr>
          <a:xfrm>
            <a:off x="0" y="8021"/>
            <a:ext cx="12192000" cy="6857999"/>
          </a:xfrm>
          <a:prstGeom prst="rect">
            <a:avLst/>
          </a:prstGeom>
        </p:spPr>
      </p:pic>
    </p:spTree>
    <p:extLst>
      <p:ext uri="{BB962C8B-B14F-4D97-AF65-F5344CB8AC3E}">
        <p14:creationId xmlns:p14="http://schemas.microsoft.com/office/powerpoint/2010/main" val="2334867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06D885-D209-5AF2-FD89-E36E69D37D5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46313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61C3D-5FD9-D4EB-52A2-BEDE04EBEB98}"/>
              </a:ext>
            </a:extLst>
          </p:cNvPr>
          <p:cNvSpPr>
            <a:spLocks noGrp="1"/>
          </p:cNvSpPr>
          <p:nvPr>
            <p:ph type="title"/>
          </p:nvPr>
        </p:nvSpPr>
        <p:spPr>
          <a:xfrm>
            <a:off x="838200" y="0"/>
            <a:ext cx="10515600" cy="763879"/>
          </a:xfrm>
        </p:spPr>
        <p:txBody>
          <a:bodyPr>
            <a:normAutofit/>
          </a:bodyPr>
          <a:lstStyle/>
          <a:p>
            <a:pPr algn="ctr"/>
            <a:r>
              <a:rPr lang="en-IN" sz="4000" b="1" dirty="0">
                <a:solidFill>
                  <a:srgbClr val="FF0000"/>
                </a:solidFill>
                <a:latin typeface="Arial Rounded MT Bold" panose="020F0704030504030204" pitchFamily="34" charset="0"/>
              </a:rPr>
              <a:t>Customer Segmentation Insights </a:t>
            </a:r>
            <a:endParaRPr lang="en-IN" sz="4000" dirty="0">
              <a:solidFill>
                <a:srgbClr val="FF0000"/>
              </a:solidFill>
              <a:latin typeface="Arial Rounded MT Bold" panose="020F0704030504030204" pitchFamily="34" charset="0"/>
            </a:endParaRPr>
          </a:p>
        </p:txBody>
      </p:sp>
      <p:sp>
        <p:nvSpPr>
          <p:cNvPr id="3" name="Text Placeholder 2">
            <a:extLst>
              <a:ext uri="{FF2B5EF4-FFF2-40B4-BE49-F238E27FC236}">
                <a16:creationId xmlns:a16="http://schemas.microsoft.com/office/drawing/2014/main" id="{2994BEB7-873D-CAA4-6C35-8FB39023B3CC}"/>
              </a:ext>
            </a:extLst>
          </p:cNvPr>
          <p:cNvSpPr>
            <a:spLocks noGrp="1"/>
          </p:cNvSpPr>
          <p:nvPr>
            <p:ph type="body" idx="1"/>
          </p:nvPr>
        </p:nvSpPr>
        <p:spPr>
          <a:xfrm>
            <a:off x="838199" y="763878"/>
            <a:ext cx="11076993" cy="5506293"/>
          </a:xfrm>
        </p:spPr>
        <p:txBody>
          <a:bodyPr>
            <a:normAutofit lnSpcReduction="10000"/>
          </a:bodyPr>
          <a:lstStyle/>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dataset contains a total of </a:t>
            </a:r>
            <a:r>
              <a:rPr lang="en-US" sz="2000" b="1" dirty="0">
                <a:latin typeface="Times New Roman" panose="02020603050405020304" pitchFamily="18" charset="0"/>
                <a:cs typeface="Times New Roman" panose="02020603050405020304" pitchFamily="18" charset="0"/>
              </a:rPr>
              <a:t>8,80,962 unique customers</a:t>
            </a:r>
            <a:r>
              <a:rPr 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Customers are segmented into three categories: </a:t>
            </a:r>
            <a:r>
              <a:rPr lang="en-US" sz="2000" b="1" dirty="0">
                <a:latin typeface="Times New Roman" panose="02020603050405020304" pitchFamily="18" charset="0"/>
                <a:cs typeface="Times New Roman" panose="02020603050405020304" pitchFamily="18" charset="0"/>
              </a:rPr>
              <a:t>Lost Customers </a:t>
            </a:r>
            <a:r>
              <a:rPr lang="en-US" sz="2000" dirty="0">
                <a:latin typeface="Times New Roman" panose="02020603050405020304" pitchFamily="18" charset="0"/>
                <a:cs typeface="Times New Roman" panose="02020603050405020304" pitchFamily="18" charset="0"/>
              </a:rPr>
              <a:t>are 8,06,955 ,</a:t>
            </a:r>
            <a:r>
              <a:rPr lang="en-US" sz="2000" b="1" dirty="0">
                <a:latin typeface="Times New Roman" panose="02020603050405020304" pitchFamily="18" charset="0"/>
                <a:cs typeface="Times New Roman" panose="02020603050405020304" pitchFamily="18" charset="0"/>
              </a:rPr>
              <a:t>Loyal Customers </a:t>
            </a:r>
            <a:r>
              <a:rPr lang="en-US" sz="2000" dirty="0">
                <a:latin typeface="Times New Roman" panose="02020603050405020304" pitchFamily="18" charset="0"/>
                <a:cs typeface="Times New Roman" panose="02020603050405020304" pitchFamily="18" charset="0"/>
              </a:rPr>
              <a:t>are 71,453, </a:t>
            </a:r>
            <a:r>
              <a:rPr lang="en-US" sz="2000" b="1" dirty="0">
                <a:latin typeface="Times New Roman" panose="02020603050405020304" pitchFamily="18" charset="0"/>
                <a:cs typeface="Times New Roman" panose="02020603050405020304" pitchFamily="18" charset="0"/>
              </a:rPr>
              <a:t>New Customers </a:t>
            </a:r>
            <a:r>
              <a:rPr lang="en-US" sz="2000" dirty="0">
                <a:latin typeface="Times New Roman" panose="02020603050405020304" pitchFamily="18" charset="0"/>
                <a:cs typeface="Times New Roman" panose="02020603050405020304" pitchFamily="18" charset="0"/>
              </a:rPr>
              <a:t>are</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2,554.</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New Customers</a:t>
            </a:r>
            <a:r>
              <a:rPr lang="en-US" sz="2000" dirty="0">
                <a:latin typeface="Times New Roman" panose="02020603050405020304" pitchFamily="18" charset="0"/>
                <a:cs typeface="Times New Roman" panose="02020603050405020304" pitchFamily="18" charset="0"/>
              </a:rPr>
              <a:t> have the </a:t>
            </a:r>
            <a:r>
              <a:rPr lang="en-US" sz="2000" b="1" dirty="0">
                <a:latin typeface="Times New Roman" panose="02020603050405020304" pitchFamily="18" charset="0"/>
                <a:cs typeface="Times New Roman" panose="02020603050405020304" pitchFamily="18" charset="0"/>
              </a:rPr>
              <a:t>highest average revenue</a:t>
            </a:r>
            <a:r>
              <a:rPr lang="en-US" sz="2000" dirty="0">
                <a:latin typeface="Times New Roman" panose="02020603050405020304" pitchFamily="18" charset="0"/>
                <a:cs typeface="Times New Roman" panose="02020603050405020304" pitchFamily="18" charset="0"/>
              </a:rPr>
              <a:t> compared to Loyal and Lost Customers.</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Lost Customers</a:t>
            </a:r>
            <a:r>
              <a:rPr lang="en-US" sz="2000" dirty="0">
                <a:latin typeface="Times New Roman" panose="02020603050405020304" pitchFamily="18" charset="0"/>
                <a:cs typeface="Times New Roman" panose="02020603050405020304" pitchFamily="18" charset="0"/>
              </a:rPr>
              <a:t> contribute the </a:t>
            </a:r>
            <a:r>
              <a:rPr lang="en-US" sz="2000" b="1" dirty="0">
                <a:latin typeface="Times New Roman" panose="02020603050405020304" pitchFamily="18" charset="0"/>
                <a:cs typeface="Times New Roman" panose="02020603050405020304" pitchFamily="18" charset="0"/>
              </a:rPr>
              <a:t>highest total revenue</a:t>
            </a:r>
            <a:r>
              <a:rPr lang="en-US" sz="2000" dirty="0">
                <a:latin typeface="Times New Roman" panose="02020603050405020304" pitchFamily="18" charset="0"/>
                <a:cs typeface="Times New Roman" panose="02020603050405020304" pitchFamily="18" charset="0"/>
              </a:rPr>
              <a:t> and have made </a:t>
            </a:r>
            <a:r>
              <a:rPr lang="en-US" sz="2000" b="1" dirty="0">
                <a:latin typeface="Times New Roman" panose="02020603050405020304" pitchFamily="18" charset="0"/>
                <a:cs typeface="Times New Roman" panose="02020603050405020304" pitchFamily="18" charset="0"/>
              </a:rPr>
              <a:t>more transactions</a:t>
            </a:r>
            <a:r>
              <a:rPr lang="en-US" sz="2000" dirty="0">
                <a:latin typeface="Times New Roman" panose="02020603050405020304" pitchFamily="18" charset="0"/>
                <a:cs typeface="Times New Roman" panose="02020603050405020304" pitchFamily="18" charset="0"/>
              </a:rPr>
              <a:t>, followed by </a:t>
            </a:r>
            <a:r>
              <a:rPr lang="en-US" sz="2000" b="1" dirty="0">
                <a:latin typeface="Times New Roman" panose="02020603050405020304" pitchFamily="18" charset="0"/>
                <a:cs typeface="Times New Roman" panose="02020603050405020304" pitchFamily="18" charset="0"/>
              </a:rPr>
              <a:t>Loyal Customers</a:t>
            </a:r>
            <a:r>
              <a:rPr lang="en-US" sz="2000" dirty="0">
                <a:latin typeface="Times New Roman" panose="02020603050405020304" pitchFamily="18" charset="0"/>
                <a:cs typeface="Times New Roman" panose="02020603050405020304" pitchFamily="18" charset="0"/>
              </a:rPr>
              <a:t>, and then </a:t>
            </a:r>
            <a:r>
              <a:rPr lang="en-US" sz="2000" b="1" dirty="0">
                <a:latin typeface="Times New Roman" panose="02020603050405020304" pitchFamily="18" charset="0"/>
                <a:cs typeface="Times New Roman" panose="02020603050405020304" pitchFamily="18" charset="0"/>
              </a:rPr>
              <a:t>New Customers</a:t>
            </a:r>
            <a:r>
              <a:rPr 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Based on these insights, the bank should </a:t>
            </a:r>
            <a:r>
              <a:rPr lang="en-US" sz="2000" b="1" dirty="0">
                <a:latin typeface="Times New Roman" panose="02020603050405020304" pitchFamily="18" charset="0"/>
                <a:cs typeface="Times New Roman" panose="02020603050405020304" pitchFamily="18" charset="0"/>
              </a:rPr>
              <a:t>focus on re-engaging Lost Customers</a:t>
            </a:r>
            <a:r>
              <a:rPr lang="en-US" sz="2000" dirty="0">
                <a:latin typeface="Times New Roman" panose="02020603050405020304" pitchFamily="18" charset="0"/>
                <a:cs typeface="Times New Roman" panose="02020603050405020304" pitchFamily="18" charset="0"/>
              </a:rPr>
              <a:t> to increase overall profitability.</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36–45 age group</a:t>
            </a:r>
            <a:r>
              <a:rPr lang="en-US" sz="2000" dirty="0">
                <a:latin typeface="Times New Roman" panose="02020603050405020304" pitchFamily="18" charset="0"/>
                <a:cs typeface="Times New Roman" panose="02020603050405020304" pitchFamily="18" charset="0"/>
              </a:rPr>
              <a:t> has the </a:t>
            </a:r>
            <a:r>
              <a:rPr lang="en-US" sz="2000" b="1" dirty="0">
                <a:latin typeface="Times New Roman" panose="02020603050405020304" pitchFamily="18" charset="0"/>
                <a:cs typeface="Times New Roman" panose="02020603050405020304" pitchFamily="18" charset="0"/>
              </a:rPr>
              <a:t>largest number of customers</a:t>
            </a:r>
            <a:r>
              <a:rPr lang="en-US" sz="2000" dirty="0">
                <a:latin typeface="Times New Roman" panose="02020603050405020304" pitchFamily="18" charset="0"/>
                <a:cs typeface="Times New Roman" panose="02020603050405020304" pitchFamily="18" charset="0"/>
              </a:rPr>
              <a:t>, followed by the </a:t>
            </a:r>
            <a:r>
              <a:rPr lang="en-US" sz="2000" b="1" dirty="0">
                <a:latin typeface="Times New Roman" panose="02020603050405020304" pitchFamily="18" charset="0"/>
                <a:cs typeface="Times New Roman" panose="02020603050405020304" pitchFamily="18" charset="0"/>
              </a:rPr>
              <a:t>26–35 age group</a:t>
            </a:r>
            <a:r>
              <a:rPr 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bank should </a:t>
            </a:r>
            <a:r>
              <a:rPr lang="en-US" sz="2000" b="1" dirty="0">
                <a:latin typeface="Times New Roman" panose="02020603050405020304" pitchFamily="18" charset="0"/>
                <a:cs typeface="Times New Roman" panose="02020603050405020304" pitchFamily="18" charset="0"/>
              </a:rPr>
              <a:t>maintain its reputation among younger customers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understand the needs of other age groups</a:t>
            </a:r>
            <a:r>
              <a:rPr lang="en-US" sz="2000" dirty="0">
                <a:latin typeface="Times New Roman" panose="02020603050405020304" pitchFamily="18" charset="0"/>
                <a:cs typeface="Times New Roman" panose="02020603050405020304" pitchFamily="18" charset="0"/>
              </a:rPr>
              <a:t> to tailor services and improve engagement.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number of </a:t>
            </a:r>
            <a:r>
              <a:rPr lang="en-US" sz="2000" b="1" dirty="0">
                <a:latin typeface="Times New Roman" panose="02020603050405020304" pitchFamily="18" charset="0"/>
                <a:cs typeface="Times New Roman" panose="02020603050405020304" pitchFamily="18" charset="0"/>
              </a:rPr>
              <a:t>customers below 25 years</a:t>
            </a:r>
            <a:r>
              <a:rPr lang="en-US" sz="2000" dirty="0">
                <a:latin typeface="Times New Roman" panose="02020603050405020304" pitchFamily="18" charset="0"/>
                <a:cs typeface="Times New Roman" panose="02020603050405020304" pitchFamily="18" charset="0"/>
              </a:rPr>
              <a:t> is comparatively low . To attract this segment, the bank can introduce </a:t>
            </a:r>
            <a:r>
              <a:rPr lang="en-US" sz="2000" b="1" dirty="0">
                <a:latin typeface="Times New Roman" panose="02020603050405020304" pitchFamily="18" charset="0"/>
                <a:cs typeface="Times New Roman" panose="02020603050405020304" pitchFamily="18" charset="0"/>
              </a:rPr>
              <a:t>joint accounts for customers under 18 years</a:t>
            </a:r>
            <a:r>
              <a:rPr lang="en-US" sz="2000" dirty="0">
                <a:latin typeface="Times New Roman" panose="02020603050405020304" pitchFamily="18" charset="0"/>
                <a:cs typeface="Times New Roman" panose="02020603050405020304" pitchFamily="18" charset="0"/>
              </a:rPr>
              <a:t> along with their parents or guardians. This may encourage </a:t>
            </a:r>
            <a:r>
              <a:rPr lang="en-US" sz="2000" b="1" dirty="0">
                <a:latin typeface="Times New Roman" panose="02020603050405020304" pitchFamily="18" charset="0"/>
                <a:cs typeface="Times New Roman" panose="02020603050405020304" pitchFamily="18" charset="0"/>
              </a:rPr>
              <a:t>education loan adoption</a:t>
            </a:r>
            <a:r>
              <a:rPr lang="en-US" sz="2000" dirty="0">
                <a:latin typeface="Times New Roman" panose="02020603050405020304" pitchFamily="18" charset="0"/>
                <a:cs typeface="Times New Roman" panose="02020603050405020304" pitchFamily="18" charset="0"/>
              </a:rPr>
              <a:t>, benefiting both the bank and customers.</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terms of </a:t>
            </a:r>
            <a:r>
              <a:rPr lang="en-US" sz="2000" b="1" dirty="0">
                <a:latin typeface="Times New Roman" panose="02020603050405020304" pitchFamily="18" charset="0"/>
                <a:cs typeface="Times New Roman" panose="02020603050405020304" pitchFamily="18" charset="0"/>
              </a:rPr>
              <a:t>RFM scores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Loyal and New Customers</a:t>
            </a:r>
            <a:r>
              <a:rPr lang="en-US" sz="2000" dirty="0">
                <a:latin typeface="Times New Roman" panose="02020603050405020304" pitchFamily="18" charset="0"/>
                <a:cs typeface="Times New Roman" panose="02020603050405020304" pitchFamily="18" charset="0"/>
              </a:rPr>
              <a:t> have </a:t>
            </a:r>
            <a:r>
              <a:rPr lang="en-US" sz="2000" b="1" dirty="0">
                <a:latin typeface="Times New Roman" panose="02020603050405020304" pitchFamily="18" charset="0"/>
                <a:cs typeface="Times New Roman" panose="02020603050405020304" pitchFamily="18" charset="0"/>
              </a:rPr>
              <a:t>higher scores</a:t>
            </a:r>
            <a:r>
              <a:rPr lang="en-US" sz="2000" dirty="0">
                <a:latin typeface="Times New Roman" panose="02020603050405020304" pitchFamily="18" charset="0"/>
                <a:cs typeface="Times New Roman" panose="02020603050405020304" pitchFamily="18" charset="0"/>
              </a:rPr>
              <a:t> compared to </a:t>
            </a:r>
            <a:r>
              <a:rPr lang="en-US" sz="2000" b="1" dirty="0">
                <a:latin typeface="Times New Roman" panose="02020603050405020304" pitchFamily="18" charset="0"/>
                <a:cs typeface="Times New Roman" panose="02020603050405020304" pitchFamily="18" charset="0"/>
              </a:rPr>
              <a:t>Lost Customers</a:t>
            </a:r>
            <a:r>
              <a:rPr lang="en-US" sz="2000" dirty="0">
                <a:latin typeface="Times New Roman" panose="02020603050405020304" pitchFamily="18" charset="0"/>
                <a:cs typeface="Times New Roman" panose="02020603050405020304" pitchFamily="18" charset="0"/>
              </a:rPr>
              <a:t>, indicating stronger engagement and recent activity.</a:t>
            </a:r>
          </a:p>
          <a:p>
            <a:pPr>
              <a:buFont typeface="Wingdings" panose="05000000000000000000" pitchFamily="2" charset="2"/>
              <a:buChar char="Ø"/>
            </a:pPr>
            <a:endParaRPr lang="en-IN" sz="2000" dirty="0"/>
          </a:p>
        </p:txBody>
      </p:sp>
    </p:spTree>
    <p:extLst>
      <p:ext uri="{BB962C8B-B14F-4D97-AF65-F5344CB8AC3E}">
        <p14:creationId xmlns:p14="http://schemas.microsoft.com/office/powerpoint/2010/main" val="1645874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3500BF-782F-66F8-DF12-343439B2CDF7}"/>
              </a:ext>
            </a:extLst>
          </p:cNvPr>
          <p:cNvPicPr>
            <a:picLocks noChangeAspect="1"/>
          </p:cNvPicPr>
          <p:nvPr/>
        </p:nvPicPr>
        <p:blipFill>
          <a:blip r:embed="rId2"/>
          <a:stretch>
            <a:fillRect/>
          </a:stretch>
        </p:blipFill>
        <p:spPr>
          <a:xfrm>
            <a:off x="0" y="-6638"/>
            <a:ext cx="12180224" cy="6864638"/>
          </a:xfrm>
          <a:prstGeom prst="rect">
            <a:avLst/>
          </a:prstGeom>
        </p:spPr>
      </p:pic>
    </p:spTree>
    <p:extLst>
      <p:ext uri="{BB962C8B-B14F-4D97-AF65-F5344CB8AC3E}">
        <p14:creationId xmlns:p14="http://schemas.microsoft.com/office/powerpoint/2010/main" val="3661741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43240-4747-3426-1082-54D3B622C90C}"/>
              </a:ext>
            </a:extLst>
          </p:cNvPr>
          <p:cNvSpPr>
            <a:spLocks noGrp="1"/>
          </p:cNvSpPr>
          <p:nvPr>
            <p:ph type="title"/>
          </p:nvPr>
        </p:nvSpPr>
        <p:spPr>
          <a:xfrm>
            <a:off x="838200" y="365126"/>
            <a:ext cx="10515600" cy="741780"/>
          </a:xfrm>
        </p:spPr>
        <p:txBody>
          <a:bodyPr>
            <a:normAutofit fontScale="90000"/>
          </a:bodyPr>
          <a:lstStyle/>
          <a:p>
            <a:pPr algn="ctr"/>
            <a:br>
              <a:rPr lang="en-IN" sz="3200" b="1" dirty="0">
                <a:solidFill>
                  <a:srgbClr val="FF0000"/>
                </a:solidFill>
              </a:rPr>
            </a:br>
            <a:r>
              <a:rPr lang="en-IN" sz="3100" b="1" dirty="0">
                <a:solidFill>
                  <a:srgbClr val="FF0000"/>
                </a:solidFill>
              </a:rPr>
              <a:t>Additional Questions and its Corresponding Dashboards</a:t>
            </a:r>
            <a:br>
              <a:rPr lang="en-IN" dirty="0"/>
            </a:br>
            <a:endParaRPr lang="en-IN" dirty="0"/>
          </a:p>
        </p:txBody>
      </p:sp>
      <p:sp>
        <p:nvSpPr>
          <p:cNvPr id="3" name="Text Placeholder 2">
            <a:extLst>
              <a:ext uri="{FF2B5EF4-FFF2-40B4-BE49-F238E27FC236}">
                <a16:creationId xmlns:a16="http://schemas.microsoft.com/office/drawing/2014/main" id="{5624E4CE-6CB7-3015-DEDC-56B3913984A4}"/>
              </a:ext>
            </a:extLst>
          </p:cNvPr>
          <p:cNvSpPr>
            <a:spLocks noGrp="1"/>
          </p:cNvSpPr>
          <p:nvPr>
            <p:ph type="body" idx="1"/>
          </p:nvPr>
        </p:nvSpPr>
        <p:spPr>
          <a:xfrm>
            <a:off x="838200" y="1050758"/>
            <a:ext cx="10515600" cy="5157537"/>
          </a:xfrm>
        </p:spPr>
        <p:txBody>
          <a:bodyPr>
            <a:normAutofit/>
          </a:bodyPr>
          <a:lstStyle/>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Donut chart for different age groups why because </a:t>
            </a:r>
            <a:r>
              <a:rPr lang="en-IN" sz="2000" b="1" dirty="0">
                <a:latin typeface="Times New Roman" panose="02020603050405020304" pitchFamily="18" charset="0"/>
                <a:cs typeface="Times New Roman" panose="02020603050405020304" pitchFamily="18" charset="0"/>
              </a:rPr>
              <a:t>visually donut chart looks good compared to pie chart for more than 4 segments.</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36-45</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age group customers contributing </a:t>
            </a:r>
            <a:r>
              <a:rPr lang="en-IN" sz="2000" b="1" dirty="0">
                <a:latin typeface="Times New Roman" panose="02020603050405020304" pitchFamily="18" charset="0"/>
                <a:cs typeface="Times New Roman" panose="02020603050405020304" pitchFamily="18" charset="0"/>
              </a:rPr>
              <a:t>44%</a:t>
            </a:r>
            <a:r>
              <a:rPr lang="en-IN" sz="2000" dirty="0">
                <a:latin typeface="Times New Roman" panose="02020603050405020304" pitchFamily="18" charset="0"/>
                <a:cs typeface="Times New Roman" panose="02020603050405020304" pitchFamily="18" charset="0"/>
              </a:rPr>
              <a:t> of total transactions amount then followed by    26-35 age group customers contributing </a:t>
            </a:r>
            <a:r>
              <a:rPr lang="en-IN" sz="2000" b="1" dirty="0">
                <a:latin typeface="Times New Roman" panose="02020603050405020304" pitchFamily="18" charset="0"/>
                <a:cs typeface="Times New Roman" panose="02020603050405020304" pitchFamily="18" charset="0"/>
              </a:rPr>
              <a:t>22% </a:t>
            </a:r>
            <a:r>
              <a:rPr lang="en-IN" sz="2000" dirty="0">
                <a:latin typeface="Times New Roman" panose="02020603050405020304" pitchFamily="18" charset="0"/>
                <a:cs typeface="Times New Roman" panose="02020603050405020304" pitchFamily="18" charset="0"/>
              </a:rPr>
              <a:t>and 46-55 age group customers contributing </a:t>
            </a:r>
            <a:r>
              <a:rPr lang="en-IN" sz="2000" b="1" dirty="0">
                <a:latin typeface="Times New Roman" panose="02020603050405020304" pitchFamily="18" charset="0"/>
                <a:cs typeface="Times New Roman" panose="02020603050405020304" pitchFamily="18" charset="0"/>
              </a:rPr>
              <a:t>20%</a:t>
            </a:r>
            <a:r>
              <a:rPr lang="en-IN" sz="20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So, we are getting </a:t>
            </a:r>
            <a:r>
              <a:rPr lang="en-IN" sz="2000" b="1" dirty="0">
                <a:latin typeface="Times New Roman" panose="02020603050405020304" pitchFamily="18" charset="0"/>
                <a:cs typeface="Times New Roman" panose="02020603050405020304" pitchFamily="18" charset="0"/>
              </a:rPr>
              <a:t>more transaction fee </a:t>
            </a:r>
            <a:r>
              <a:rPr lang="en-IN" sz="2000" dirty="0">
                <a:latin typeface="Times New Roman" panose="02020603050405020304" pitchFamily="18" charset="0"/>
                <a:cs typeface="Times New Roman" panose="02020603050405020304" pitchFamily="18" charset="0"/>
              </a:rPr>
              <a:t>from these age group customers</a:t>
            </a:r>
            <a:r>
              <a:rPr lang="en-IN" sz="20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Same like card we can use multirow card for simple segmentation, here we can apply all aggregation functions and easily observe all the values.</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By using </a:t>
            </a:r>
            <a:r>
              <a:rPr lang="en-IN" sz="2000" b="1" dirty="0">
                <a:latin typeface="Times New Roman" panose="02020603050405020304" pitchFamily="18" charset="0"/>
                <a:cs typeface="Times New Roman" panose="02020603050405020304" pitchFamily="18" charset="0"/>
              </a:rPr>
              <a:t>Gauge, </a:t>
            </a:r>
            <a:r>
              <a:rPr lang="en-IN" sz="2000" dirty="0">
                <a:latin typeface="Times New Roman" panose="02020603050405020304" pitchFamily="18" charset="0"/>
                <a:cs typeface="Times New Roman" panose="02020603050405020304" pitchFamily="18" charset="0"/>
              </a:rPr>
              <a:t>we can see the </a:t>
            </a:r>
            <a:r>
              <a:rPr lang="en-IN" sz="2000" b="1" dirty="0">
                <a:latin typeface="Times New Roman" panose="02020603050405020304" pitchFamily="18" charset="0"/>
                <a:cs typeface="Times New Roman" panose="02020603050405020304" pitchFamily="18" charset="0"/>
              </a:rPr>
              <a:t>extreme points</a:t>
            </a:r>
            <a:r>
              <a:rPr lang="en-IN" sz="2000" dirty="0">
                <a:latin typeface="Times New Roman" panose="02020603050405020304" pitchFamily="18" charset="0"/>
                <a:cs typeface="Times New Roman" panose="02020603050405020304" pitchFamily="18" charset="0"/>
              </a:rPr>
              <a:t> in the given data easily. And our dashboard is interactive so if we select different categories from other chart, we can </a:t>
            </a:r>
            <a:r>
              <a:rPr lang="en-IN" sz="2000" b="1" dirty="0">
                <a:latin typeface="Times New Roman" panose="02020603050405020304" pitchFamily="18" charset="0"/>
                <a:cs typeface="Times New Roman" panose="02020603050405020304" pitchFamily="18" charset="0"/>
              </a:rPr>
              <a:t>easily see the changes</a:t>
            </a:r>
            <a:r>
              <a:rPr lang="en-IN" sz="2000" dirty="0">
                <a:latin typeface="Times New Roman" panose="02020603050405020304" pitchFamily="18" charset="0"/>
                <a:cs typeface="Times New Roman" panose="02020603050405020304" pitchFamily="18" charset="0"/>
              </a:rPr>
              <a:t> in Gauge chart.</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 </a:t>
            </a:r>
            <a:r>
              <a:rPr lang="en-IN" sz="2000" b="1" dirty="0">
                <a:latin typeface="Times New Roman" panose="02020603050405020304" pitchFamily="18" charset="0"/>
                <a:cs typeface="Times New Roman" panose="02020603050405020304" pitchFamily="18" charset="0"/>
              </a:rPr>
              <a:t>Ribbon Chart </a:t>
            </a:r>
            <a:r>
              <a:rPr lang="en-IN" sz="2000" dirty="0">
                <a:latin typeface="Times New Roman" panose="02020603050405020304" pitchFamily="18" charset="0"/>
                <a:cs typeface="Times New Roman" panose="02020603050405020304" pitchFamily="18" charset="0"/>
              </a:rPr>
              <a:t>we will give </a:t>
            </a:r>
            <a:r>
              <a:rPr lang="en-IN" sz="2000" b="1" dirty="0">
                <a:latin typeface="Times New Roman" panose="02020603050405020304" pitchFamily="18" charset="0"/>
                <a:cs typeface="Times New Roman" panose="02020603050405020304" pitchFamily="18" charset="0"/>
              </a:rPr>
              <a:t>one numerical column and two categorical </a:t>
            </a:r>
            <a:r>
              <a:rPr lang="en-IN" sz="2000" dirty="0">
                <a:latin typeface="Times New Roman" panose="02020603050405020304" pitchFamily="18" charset="0"/>
                <a:cs typeface="Times New Roman" panose="02020603050405020304" pitchFamily="18" charset="0"/>
              </a:rPr>
              <a:t>columns and it gives outcome where we can easily find out which category values is highest because it shows </a:t>
            </a:r>
            <a:r>
              <a:rPr lang="en-IN" sz="2000" b="1" dirty="0">
                <a:latin typeface="Times New Roman" panose="02020603050405020304" pitchFamily="18" charset="0"/>
                <a:cs typeface="Times New Roman" panose="02020603050405020304" pitchFamily="18" charset="0"/>
              </a:rPr>
              <a:t>highest category values on top and lowest category values at bottom.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176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66544A-EA00-E06E-0276-8F3133090CD6}"/>
              </a:ext>
            </a:extLst>
          </p:cNvPr>
          <p:cNvPicPr>
            <a:picLocks noChangeAspect="1"/>
          </p:cNvPicPr>
          <p:nvPr/>
        </p:nvPicPr>
        <p:blipFill>
          <a:blip r:embed="rId2"/>
          <a:stretch>
            <a:fillRect/>
          </a:stretch>
        </p:blipFill>
        <p:spPr>
          <a:xfrm>
            <a:off x="0" y="-23215"/>
            <a:ext cx="12191999" cy="6904429"/>
          </a:xfrm>
          <a:prstGeom prst="rect">
            <a:avLst/>
          </a:prstGeom>
        </p:spPr>
      </p:pic>
    </p:spTree>
    <p:extLst>
      <p:ext uri="{BB962C8B-B14F-4D97-AF65-F5344CB8AC3E}">
        <p14:creationId xmlns:p14="http://schemas.microsoft.com/office/powerpoint/2010/main" val="2977625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7167D-3038-0A72-A712-1FE594E6F497}"/>
              </a:ext>
            </a:extLst>
          </p:cNvPr>
          <p:cNvSpPr>
            <a:spLocks noGrp="1"/>
          </p:cNvSpPr>
          <p:nvPr>
            <p:ph type="title"/>
          </p:nvPr>
        </p:nvSpPr>
        <p:spPr>
          <a:xfrm>
            <a:off x="838200" y="365125"/>
            <a:ext cx="10515600" cy="749801"/>
          </a:xfrm>
        </p:spPr>
        <p:txBody>
          <a:bodyPr>
            <a:normAutofit/>
          </a:bodyPr>
          <a:lstStyle/>
          <a:p>
            <a:pPr algn="ctr"/>
            <a:r>
              <a:rPr lang="en-IN" sz="2800" b="1" dirty="0">
                <a:solidFill>
                  <a:srgbClr val="FF0000"/>
                </a:solidFill>
                <a:latin typeface="Calibri" panose="020F0502020204030204" pitchFamily="34" charset="0"/>
                <a:ea typeface="Calibri" panose="020F0502020204030204" pitchFamily="34" charset="0"/>
                <a:cs typeface="Calibri" panose="020F0502020204030204" pitchFamily="34" charset="0"/>
              </a:rPr>
              <a:t>Additional Questions and its Corresponding Dashboards</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41365826-0010-C1F2-3554-7DDFF4B7AEA3}"/>
              </a:ext>
            </a:extLst>
          </p:cNvPr>
          <p:cNvSpPr>
            <a:spLocks noGrp="1"/>
          </p:cNvSpPr>
          <p:nvPr>
            <p:ph type="body" idx="1"/>
          </p:nvPr>
        </p:nvSpPr>
        <p:spPr>
          <a:xfrm>
            <a:off x="838200" y="1524001"/>
            <a:ext cx="10515600" cy="3777916"/>
          </a:xfrm>
        </p:spPr>
        <p:txBody>
          <a:bodyPr>
            <a:normAutofit/>
          </a:bodyPr>
          <a:lstStyle/>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By using </a:t>
            </a:r>
            <a:r>
              <a:rPr lang="en-IN" sz="2000" b="1" dirty="0">
                <a:latin typeface="Times New Roman" panose="02020603050405020304" pitchFamily="18" charset="0"/>
                <a:cs typeface="Times New Roman" panose="02020603050405020304" pitchFamily="18" charset="0"/>
              </a:rPr>
              <a:t>matrix, </a:t>
            </a:r>
            <a:r>
              <a:rPr lang="en-IN" sz="2000" dirty="0">
                <a:latin typeface="Times New Roman" panose="02020603050405020304" pitchFamily="18" charset="0"/>
                <a:cs typeface="Times New Roman" panose="02020603050405020304" pitchFamily="18" charset="0"/>
              </a:rPr>
              <a:t>we can see different combination categories values in the </a:t>
            </a:r>
            <a:r>
              <a:rPr lang="en-IN" sz="2000" b="1" dirty="0">
                <a:latin typeface="Times New Roman" panose="02020603050405020304" pitchFamily="18" charset="0"/>
                <a:cs typeface="Times New Roman" panose="02020603050405020304" pitchFamily="18" charset="0"/>
              </a:rPr>
              <a:t>tabular format.</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Here we can observe that Male transactions amount is </a:t>
            </a:r>
            <a:r>
              <a:rPr lang="en-IN" sz="2000" b="1" dirty="0">
                <a:latin typeface="Times New Roman" panose="02020603050405020304" pitchFamily="18" charset="0"/>
                <a:cs typeface="Times New Roman" panose="02020603050405020304" pitchFamily="18" charset="0"/>
              </a:rPr>
              <a:t>more than 2 times </a:t>
            </a:r>
            <a:r>
              <a:rPr lang="en-IN" sz="2000" dirty="0">
                <a:latin typeface="Times New Roman" panose="02020603050405020304" pitchFamily="18" charset="0"/>
                <a:cs typeface="Times New Roman" panose="02020603050405020304" pitchFamily="18" charset="0"/>
              </a:rPr>
              <a:t>of female transaction amount.</a:t>
            </a:r>
          </a:p>
          <a:p>
            <a:pPr>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Area chart </a:t>
            </a:r>
            <a:r>
              <a:rPr lang="en-IN" sz="2000" dirty="0">
                <a:latin typeface="Times New Roman" panose="02020603050405020304" pitchFamily="18" charset="0"/>
                <a:cs typeface="Times New Roman" panose="02020603050405020304" pitchFamily="18" charset="0"/>
              </a:rPr>
              <a:t>is performed on </a:t>
            </a:r>
            <a:r>
              <a:rPr lang="en-IN" sz="2000" b="1" dirty="0">
                <a:latin typeface="Times New Roman" panose="02020603050405020304" pitchFamily="18" charset="0"/>
                <a:cs typeface="Times New Roman" panose="02020603050405020304" pitchFamily="18" charset="0"/>
              </a:rPr>
              <a:t>sum of transactions and average of transactions</a:t>
            </a:r>
            <a:r>
              <a:rPr lang="en-IN" sz="2000" dirty="0">
                <a:latin typeface="Times New Roman" panose="02020603050405020304" pitchFamily="18" charset="0"/>
                <a:cs typeface="Times New Roman" panose="02020603050405020304" pitchFamily="18" charset="0"/>
              </a:rPr>
              <a:t>. Visually it is one of the best charts to see the difference compared to other charts.</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Mostly it shows same because many customers made </a:t>
            </a:r>
            <a:r>
              <a:rPr lang="en-IN" sz="2000" b="1" dirty="0">
                <a:latin typeface="Times New Roman" panose="02020603050405020304" pitchFamily="18" charset="0"/>
                <a:cs typeface="Times New Roman" panose="02020603050405020304" pitchFamily="18" charset="0"/>
              </a:rPr>
              <a:t>1 transaction </a:t>
            </a:r>
            <a:r>
              <a:rPr lang="en-IN" sz="2000" dirty="0">
                <a:latin typeface="Times New Roman" panose="02020603050405020304" pitchFamily="18" charset="0"/>
                <a:cs typeface="Times New Roman" panose="02020603050405020304" pitchFamily="18" charset="0"/>
              </a:rPr>
              <a:t>only for remaining customers it shows different </a:t>
            </a:r>
            <a:r>
              <a:rPr lang="en-IN" sz="2000" b="1" dirty="0">
                <a:latin typeface="Times New Roman" panose="02020603050405020304" pitchFamily="18" charset="0"/>
                <a:cs typeface="Times New Roman" panose="02020603050405020304" pitchFamily="18" charset="0"/>
              </a:rPr>
              <a:t>(2-6 transactions) </a:t>
            </a:r>
            <a:r>
              <a:rPr lang="en-IN" sz="2000" dirty="0">
                <a:latin typeface="Times New Roman" panose="02020603050405020304" pitchFamily="18" charset="0"/>
                <a:cs typeface="Times New Roman" panose="02020603050405020304" pitchFamily="18" charset="0"/>
              </a:rPr>
              <a:t>and we can easily observe by seeing the area chart.</a:t>
            </a:r>
          </a:p>
          <a:p>
            <a:pPr>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Funnel chart is best among the other chart to perform categorial and numerical column because it shows the categories from highest to lowest based on the values.</a:t>
            </a:r>
          </a:p>
        </p:txBody>
      </p:sp>
    </p:spTree>
    <p:extLst>
      <p:ext uri="{BB962C8B-B14F-4D97-AF65-F5344CB8AC3E}">
        <p14:creationId xmlns:p14="http://schemas.microsoft.com/office/powerpoint/2010/main" val="2954442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DB6D-A66E-8B6F-0ABE-02AC54AAB8B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8F3175C-CF49-1013-07CC-8D039713259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022872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25F53-3267-866C-C927-5A6B3C1DF898}"/>
              </a:ext>
            </a:extLst>
          </p:cNvPr>
          <p:cNvSpPr>
            <a:spLocks noGrp="1"/>
          </p:cNvSpPr>
          <p:nvPr>
            <p:ph type="title"/>
          </p:nvPr>
        </p:nvSpPr>
        <p:spPr>
          <a:xfrm>
            <a:off x="838200" y="365125"/>
            <a:ext cx="10515600" cy="717717"/>
          </a:xfrm>
        </p:spPr>
        <p:txBody>
          <a:bodyPr>
            <a:normAutofit/>
          </a:bodyPr>
          <a:lstStyle/>
          <a:p>
            <a:pPr algn="ctr"/>
            <a:r>
              <a:rPr lang="en-IN" sz="2000" b="1" dirty="0">
                <a:solidFill>
                  <a:srgbClr val="FF0000"/>
                </a:solidFill>
              </a:rPr>
              <a:t>Customer Account Balance Range and Customer Transactions Amount Range</a:t>
            </a:r>
          </a:p>
        </p:txBody>
      </p:sp>
      <p:sp>
        <p:nvSpPr>
          <p:cNvPr id="3" name="Text Placeholder 2">
            <a:extLst>
              <a:ext uri="{FF2B5EF4-FFF2-40B4-BE49-F238E27FC236}">
                <a16:creationId xmlns:a16="http://schemas.microsoft.com/office/drawing/2014/main" id="{1055166C-EC99-8568-8CFF-FB3B07AFAD5C}"/>
              </a:ext>
            </a:extLst>
          </p:cNvPr>
          <p:cNvSpPr>
            <a:spLocks noGrp="1"/>
          </p:cNvSpPr>
          <p:nvPr>
            <p:ph type="body" idx="1"/>
          </p:nvPr>
        </p:nvSpPr>
        <p:spPr>
          <a:xfrm>
            <a:off x="838200" y="914401"/>
            <a:ext cx="10515600" cy="5293894"/>
          </a:xfrm>
        </p:spPr>
        <p:txBody>
          <a:bodyPr>
            <a:normAutofit fontScale="47500" lnSpcReduction="20000"/>
          </a:bodyPr>
          <a:lstStyle/>
          <a:p>
            <a:pPr>
              <a:buFont typeface="Wingdings" panose="05000000000000000000" pitchFamily="2" charset="2"/>
              <a:buChar char="Ø"/>
            </a:pPr>
            <a:r>
              <a:rPr lang="en-IN" sz="4200" dirty="0">
                <a:latin typeface="Times New Roman" panose="02020603050405020304" pitchFamily="18" charset="0"/>
                <a:cs typeface="Times New Roman" panose="02020603050405020304" pitchFamily="18" charset="0"/>
              </a:rPr>
              <a:t>We are adding </a:t>
            </a:r>
            <a:r>
              <a:rPr lang="en-IN" sz="4200" b="1" dirty="0">
                <a:latin typeface="Times New Roman" panose="02020603050405020304" pitchFamily="18" charset="0"/>
                <a:cs typeface="Times New Roman" panose="02020603050405020304" pitchFamily="18" charset="0"/>
              </a:rPr>
              <a:t>new column </a:t>
            </a:r>
            <a:r>
              <a:rPr lang="en-IN" sz="4200" dirty="0">
                <a:latin typeface="Times New Roman" panose="02020603050405020304" pitchFamily="18" charset="0"/>
                <a:cs typeface="Times New Roman" panose="02020603050405020304" pitchFamily="18" charset="0"/>
              </a:rPr>
              <a:t>by segmenting </a:t>
            </a:r>
            <a:r>
              <a:rPr lang="en-IN" sz="4200" b="1" dirty="0">
                <a:latin typeface="Times New Roman" panose="02020603050405020304" pitchFamily="18" charset="0"/>
                <a:cs typeface="Times New Roman" panose="02020603050405020304" pitchFamily="18" charset="0"/>
              </a:rPr>
              <a:t>customer account balance </a:t>
            </a:r>
            <a:r>
              <a:rPr lang="en-IN" sz="4200" dirty="0">
                <a:latin typeface="Times New Roman" panose="02020603050405020304" pitchFamily="18" charset="0"/>
                <a:cs typeface="Times New Roman" panose="02020603050405020304" pitchFamily="18" charset="0"/>
              </a:rPr>
              <a:t>into </a:t>
            </a:r>
            <a:r>
              <a:rPr lang="en-IN" sz="4200" b="1" dirty="0">
                <a:latin typeface="Times New Roman" panose="02020603050405020304" pitchFamily="18" charset="0"/>
                <a:cs typeface="Times New Roman" panose="02020603050405020304" pitchFamily="18" charset="0"/>
              </a:rPr>
              <a:t>six segments.</a:t>
            </a:r>
          </a:p>
          <a:p>
            <a:pPr>
              <a:buFont typeface="Wingdings" panose="05000000000000000000" pitchFamily="2" charset="2"/>
              <a:buChar char="Ø"/>
            </a:pPr>
            <a:r>
              <a:rPr lang="en-IN" sz="4200" dirty="0">
                <a:latin typeface="Times New Roman" panose="02020603050405020304" pitchFamily="18" charset="0"/>
                <a:cs typeface="Times New Roman" panose="02020603050405020304" pitchFamily="18" charset="0"/>
              </a:rPr>
              <a:t>We created matrix chart based on age and customer account balance segments and customer id then we find </a:t>
            </a:r>
            <a:r>
              <a:rPr lang="en-IN" sz="4200" b="1" dirty="0">
                <a:latin typeface="Times New Roman" panose="02020603050405020304" pitchFamily="18" charset="0"/>
                <a:cs typeface="Times New Roman" panose="02020603050405020304" pitchFamily="18" charset="0"/>
              </a:rPr>
              <a:t>4143 zero balance accounts</a:t>
            </a:r>
            <a:r>
              <a:rPr lang="en-IN" sz="4200" dirty="0">
                <a:latin typeface="Times New Roman" panose="02020603050405020304" pitchFamily="18" charset="0"/>
                <a:cs typeface="Times New Roman" panose="02020603050405020304" pitchFamily="18" charset="0"/>
              </a:rPr>
              <a:t> and tell them to </a:t>
            </a:r>
            <a:r>
              <a:rPr lang="en-IN" sz="4200" b="1" dirty="0">
                <a:latin typeface="Times New Roman" panose="02020603050405020304" pitchFamily="18" charset="0"/>
                <a:cs typeface="Times New Roman" panose="02020603050405020304" pitchFamily="18" charset="0"/>
              </a:rPr>
              <a:t>maintain minimum balance</a:t>
            </a:r>
            <a:r>
              <a:rPr lang="en-IN" sz="4200" dirty="0">
                <a:latin typeface="Times New Roman" panose="02020603050405020304" pitchFamily="18" charset="0"/>
                <a:cs typeface="Times New Roman" panose="02020603050405020304" pitchFamily="18" charset="0"/>
              </a:rPr>
              <a:t> otherwise they have to pay fine.</a:t>
            </a:r>
          </a:p>
          <a:p>
            <a:pPr>
              <a:buFont typeface="Wingdings" panose="05000000000000000000" pitchFamily="2" charset="2"/>
              <a:buChar char="Ø"/>
            </a:pPr>
            <a:r>
              <a:rPr lang="en-IN" sz="4200" dirty="0">
                <a:latin typeface="Times New Roman" panose="02020603050405020304" pitchFamily="18" charset="0"/>
                <a:cs typeface="Times New Roman" panose="02020603050405020304" pitchFamily="18" charset="0"/>
              </a:rPr>
              <a:t>And we observed account balance between ten thousand – one lakh in more customers accounts </a:t>
            </a:r>
            <a:r>
              <a:rPr lang="en-IN" sz="4200" b="1" dirty="0">
                <a:latin typeface="Times New Roman" panose="02020603050405020304" pitchFamily="18" charset="0"/>
                <a:cs typeface="Times New Roman" panose="02020603050405020304" pitchFamily="18" charset="0"/>
              </a:rPr>
              <a:t>(48%), </a:t>
            </a:r>
            <a:r>
              <a:rPr lang="en-IN" sz="4200" dirty="0">
                <a:latin typeface="Times New Roman" panose="02020603050405020304" pitchFamily="18" charset="0"/>
                <a:cs typeface="Times New Roman" panose="02020603050405020304" pitchFamily="18" charset="0"/>
              </a:rPr>
              <a:t>we observed good number of customers maintain amount balance 1 lakh – 10 lakhs </a:t>
            </a:r>
            <a:r>
              <a:rPr lang="en-IN" sz="4200" b="1" dirty="0">
                <a:latin typeface="Times New Roman" panose="02020603050405020304" pitchFamily="18" charset="0"/>
                <a:cs typeface="Times New Roman" panose="02020603050405020304" pitchFamily="18" charset="0"/>
              </a:rPr>
              <a:t>(16%), </a:t>
            </a:r>
            <a:r>
              <a:rPr lang="en-IN" sz="4200" dirty="0">
                <a:latin typeface="Times New Roman" panose="02020603050405020304" pitchFamily="18" charset="0"/>
                <a:cs typeface="Times New Roman" panose="02020603050405020304" pitchFamily="18" charset="0"/>
              </a:rPr>
              <a:t>we observed good number of customers maintain amount balance more than 10 lakhs.</a:t>
            </a:r>
          </a:p>
          <a:p>
            <a:pPr>
              <a:buFont typeface="Wingdings" panose="05000000000000000000" pitchFamily="2" charset="2"/>
              <a:buChar char="Ø"/>
            </a:pPr>
            <a:r>
              <a:rPr lang="en-IN" sz="4200" dirty="0">
                <a:latin typeface="Times New Roman" panose="02020603050405020304" pitchFamily="18" charset="0"/>
                <a:cs typeface="Times New Roman" panose="02020603050405020304" pitchFamily="18" charset="0"/>
              </a:rPr>
              <a:t>These customers are crucial for our bank to maintain smoot running of our bank . These amounts only we use to give </a:t>
            </a:r>
            <a:r>
              <a:rPr lang="en-IN" sz="4200" b="1" dirty="0">
                <a:latin typeface="Times New Roman" panose="02020603050405020304" pitchFamily="18" charset="0"/>
                <a:cs typeface="Times New Roman" panose="02020603050405020304" pitchFamily="18" charset="0"/>
              </a:rPr>
              <a:t>loans to other customers.</a:t>
            </a:r>
          </a:p>
          <a:p>
            <a:pPr>
              <a:buFont typeface="Wingdings" panose="05000000000000000000" pitchFamily="2" charset="2"/>
              <a:buChar char="Ø"/>
            </a:pPr>
            <a:r>
              <a:rPr lang="en-IN" sz="4200" dirty="0">
                <a:latin typeface="Times New Roman" panose="02020603050405020304" pitchFamily="18" charset="0"/>
                <a:cs typeface="Times New Roman" panose="02020603050405020304" pitchFamily="18" charset="0"/>
              </a:rPr>
              <a:t>Transaction amount we segmented into </a:t>
            </a:r>
            <a:r>
              <a:rPr lang="en-IN" sz="4200" b="1" dirty="0">
                <a:latin typeface="Times New Roman" panose="02020603050405020304" pitchFamily="18" charset="0"/>
                <a:cs typeface="Times New Roman" panose="02020603050405020304" pitchFamily="18" charset="0"/>
              </a:rPr>
              <a:t>4 categories based on NEFT charges.</a:t>
            </a:r>
          </a:p>
          <a:p>
            <a:pPr>
              <a:buFont typeface="Wingdings" panose="05000000000000000000" pitchFamily="2" charset="2"/>
              <a:buChar char="Ø"/>
            </a:pPr>
            <a:r>
              <a:rPr lang="en-IN" sz="4200" dirty="0">
                <a:latin typeface="Times New Roman" panose="02020603050405020304" pitchFamily="18" charset="0"/>
                <a:cs typeface="Times New Roman" panose="02020603050405020304" pitchFamily="18" charset="0"/>
              </a:rPr>
              <a:t>We will get more transaction charges If huge amount transactions are made by our customers.</a:t>
            </a:r>
          </a:p>
          <a:p>
            <a:pPr>
              <a:buFont typeface="Wingdings" panose="05000000000000000000" pitchFamily="2" charset="2"/>
              <a:buChar char="Ø"/>
            </a:pPr>
            <a:r>
              <a:rPr lang="en-IN" sz="4200" dirty="0">
                <a:latin typeface="Times New Roman" panose="02020603050405020304" pitchFamily="18" charset="0"/>
                <a:cs typeface="Times New Roman" panose="02020603050405020304" pitchFamily="18" charset="0"/>
              </a:rPr>
              <a:t>Most of the transactions comes under </a:t>
            </a:r>
            <a:r>
              <a:rPr lang="en-IN" sz="4200" b="1" dirty="0">
                <a:latin typeface="Times New Roman" panose="02020603050405020304" pitchFamily="18" charset="0"/>
                <a:cs typeface="Times New Roman" panose="02020603050405020304" pitchFamily="18" charset="0"/>
              </a:rPr>
              <a:t>2.5 + GST </a:t>
            </a:r>
            <a:r>
              <a:rPr lang="en-IN" sz="4200" dirty="0">
                <a:latin typeface="Times New Roman" panose="02020603050405020304" pitchFamily="18" charset="0"/>
                <a:cs typeface="Times New Roman" panose="02020603050405020304" pitchFamily="18" charset="0"/>
              </a:rPr>
              <a:t>category then followed by </a:t>
            </a:r>
            <a:r>
              <a:rPr lang="en-IN" sz="4200" b="1" dirty="0">
                <a:latin typeface="Times New Roman" panose="02020603050405020304" pitchFamily="18" charset="0"/>
                <a:cs typeface="Times New Roman" panose="02020603050405020304" pitchFamily="18" charset="0"/>
              </a:rPr>
              <a:t>5 + GST</a:t>
            </a:r>
            <a:r>
              <a:rPr lang="en-IN" sz="42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IN" sz="4200" dirty="0">
                <a:latin typeface="Times New Roman" panose="02020603050405020304" pitchFamily="18" charset="0"/>
                <a:cs typeface="Times New Roman" panose="02020603050405020304" pitchFamily="18" charset="0"/>
              </a:rPr>
              <a:t>Huge amount transactions were happening from </a:t>
            </a:r>
            <a:r>
              <a:rPr lang="en-IN" sz="4200" b="1" dirty="0">
                <a:latin typeface="Times New Roman" panose="02020603050405020304" pitchFamily="18" charset="0"/>
                <a:cs typeface="Times New Roman" panose="02020603050405020304" pitchFamily="18" charset="0"/>
              </a:rPr>
              <a:t>26-55 age groups </a:t>
            </a:r>
            <a:r>
              <a:rPr lang="en-IN" sz="4200" dirty="0">
                <a:latin typeface="Times New Roman" panose="02020603050405020304" pitchFamily="18" charset="0"/>
                <a:cs typeface="Times New Roman" panose="02020603050405020304" pitchFamily="18" charset="0"/>
              </a:rPr>
              <a:t>and Huge amount transactions were </a:t>
            </a:r>
            <a:r>
              <a:rPr lang="en-IN" sz="4200" b="1" dirty="0">
                <a:latin typeface="Times New Roman" panose="02020603050405020304" pitchFamily="18" charset="0"/>
                <a:cs typeface="Times New Roman" panose="02020603050405020304" pitchFamily="18" charset="0"/>
              </a:rPr>
              <a:t>not</a:t>
            </a:r>
            <a:r>
              <a:rPr lang="en-IN" sz="4200" dirty="0">
                <a:latin typeface="Times New Roman" panose="02020603050405020304" pitchFamily="18" charset="0"/>
                <a:cs typeface="Times New Roman" panose="02020603050405020304" pitchFamily="18" charset="0"/>
              </a:rPr>
              <a:t> happening on customers age </a:t>
            </a:r>
            <a:r>
              <a:rPr lang="en-IN" sz="4200" b="1" dirty="0">
                <a:latin typeface="Times New Roman" panose="02020603050405020304" pitchFamily="18" charset="0"/>
                <a:cs typeface="Times New Roman" panose="02020603050405020304" pitchFamily="18" charset="0"/>
              </a:rPr>
              <a:t>less than 25.</a:t>
            </a:r>
          </a:p>
          <a:p>
            <a:pPr>
              <a:buFont typeface="Wingdings" panose="05000000000000000000" pitchFamily="2" charset="2"/>
              <a:buChar char="Ø"/>
            </a:pPr>
            <a:r>
              <a:rPr lang="en-IN" sz="4200" b="1" dirty="0">
                <a:latin typeface="Times New Roman" panose="02020603050405020304" pitchFamily="18" charset="0"/>
                <a:cs typeface="Times New Roman" panose="02020603050405020304" pitchFamily="18" charset="0"/>
              </a:rPr>
              <a:t>Most of the customers are maintain account balance between ten thousand to one lakh followed by one lakh to ten lakh which means customers are feeling safe to deposit amount on our bank.</a:t>
            </a:r>
            <a:endParaRPr lang="en-IN" sz="4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402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TM03457491[[fn=Metropolitan]]</Template>
  <TotalTime>2276</TotalTime>
  <Words>1513</Words>
  <Application>Microsoft Office PowerPoint</Application>
  <PresentationFormat>Widescreen</PresentationFormat>
  <Paragraphs>94</Paragraphs>
  <Slides>19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Libre Baskerville</vt:lpstr>
      <vt:lpstr>Arial Rounded MT Bold</vt:lpstr>
      <vt:lpstr>Wingdings</vt:lpstr>
      <vt:lpstr>Arial</vt:lpstr>
      <vt:lpstr>Times New Roman</vt:lpstr>
      <vt:lpstr>Calibri</vt:lpstr>
      <vt:lpstr>Office Theme</vt:lpstr>
      <vt:lpstr>PowerPoint Presentation</vt:lpstr>
      <vt:lpstr>Agenda</vt:lpstr>
      <vt:lpstr>Objectives</vt:lpstr>
      <vt:lpstr>Dataset Description</vt:lpstr>
      <vt:lpstr>Data Preparation and Data Cleaning</vt:lpstr>
      <vt:lpstr>PowerPoint Presentation</vt:lpstr>
      <vt:lpstr>Customer Demographics Insights</vt:lpstr>
      <vt:lpstr>PowerPoint Presentation</vt:lpstr>
      <vt:lpstr>Transaction Behavior Insights </vt:lpstr>
      <vt:lpstr>PowerPoint Presentation</vt:lpstr>
      <vt:lpstr>PowerPoint Presentation</vt:lpstr>
      <vt:lpstr>Customer Segmentation Insights </vt:lpstr>
      <vt:lpstr>PowerPoint Presentation</vt:lpstr>
      <vt:lpstr> Additional Questions and its Corresponding Dashboards </vt:lpstr>
      <vt:lpstr>PowerPoint Presentation</vt:lpstr>
      <vt:lpstr>Additional Questions and its Corresponding Dashboards</vt:lpstr>
      <vt:lpstr>PowerPoint Presentation</vt:lpstr>
      <vt:lpstr>Customer Account Balance Range and Customer Transactions Amount Range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sampath</dc:creator>
  <cp:lastModifiedBy>sampath kumar Pujari</cp:lastModifiedBy>
  <cp:revision>4</cp:revision>
  <dcterms:created xsi:type="dcterms:W3CDTF">2021-02-16T05:19:01Z</dcterms:created>
  <dcterms:modified xsi:type="dcterms:W3CDTF">2025-11-02T06:54:33Z</dcterms:modified>
</cp:coreProperties>
</file>